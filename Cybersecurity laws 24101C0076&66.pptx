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Gelasio" panose="020B0604020202020204" charset="0"/>
      <p:regular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5314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02D2C"/>
          </a:solidFill>
          <a:ln/>
        </p:spPr>
      </p:sp>
      <p:sp>
        <p:nvSpPr>
          <p:cNvPr id="3" name="Shape 1"/>
          <p:cNvSpPr/>
          <p:nvPr/>
        </p:nvSpPr>
        <p:spPr>
          <a:xfrm>
            <a:off x="0" y="0"/>
            <a:ext cx="9144000" cy="51435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373433"/>
          </a:solidFill>
          <a:ln/>
        </p:spPr>
      </p:sp>
      <p:pic>
        <p:nvPicPr>
          <p:cNvPr id="3" name="Image 0" descr="preencoded.png"/>
          <p:cNvPicPr>
            <a:picLocks noChangeAspect="1"/>
          </p:cNvPicPr>
          <p:nvPr/>
        </p:nvPicPr>
        <p:blipFill>
          <a:blip r:embed="rId3"/>
          <a:stretch>
            <a:fillRect/>
          </a:stretch>
        </p:blipFill>
        <p:spPr>
          <a:xfrm>
            <a:off x="61987" y="92943"/>
            <a:ext cx="3305026" cy="4957539"/>
          </a:xfrm>
          <a:prstGeom prst="rect">
            <a:avLst/>
          </a:prstGeom>
        </p:spPr>
      </p:pic>
      <p:sp>
        <p:nvSpPr>
          <p:cNvPr id="4" name="Text 1"/>
          <p:cNvSpPr/>
          <p:nvPr/>
        </p:nvSpPr>
        <p:spPr>
          <a:xfrm>
            <a:off x="3925119" y="1602358"/>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D8B6A4"/>
                </a:solidFill>
                <a:latin typeface="Gelasio" pitchFamily="34" charset="0"/>
                <a:ea typeface="Gelasio" pitchFamily="34" charset="-122"/>
                <a:cs typeface="Gelasio" pitchFamily="34" charset="-120"/>
              </a:rPr>
              <a:t> Cybersecurity Laws</a:t>
            </a:r>
            <a:endParaRPr lang="en-US" sz="2400" dirty="0"/>
          </a:p>
        </p:txBody>
      </p:sp>
      <p:sp>
        <p:nvSpPr>
          <p:cNvPr id="5" name="Text 2"/>
          <p:cNvSpPr/>
          <p:nvPr/>
        </p:nvSpPr>
        <p:spPr>
          <a:xfrm>
            <a:off x="3925119" y="2563490"/>
            <a:ext cx="4722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A comprehensive guide to the legal frameworks protecting our digital world — from individual privacy to national infrastructure, from corporate accountability to emerging global standards.</a:t>
            </a:r>
            <a:endParaRPr lang="en-US" sz="950" dirty="0"/>
          </a:p>
        </p:txBody>
      </p:sp>
      <p:sp>
        <p:nvSpPr>
          <p:cNvPr id="6" name="Shape 3"/>
          <p:cNvSpPr/>
          <p:nvPr/>
        </p:nvSpPr>
        <p:spPr>
          <a:xfrm>
            <a:off x="3925119" y="3303166"/>
            <a:ext cx="1209749" cy="233214"/>
          </a:xfrm>
          <a:prstGeom prst="roundRect">
            <a:avLst>
              <a:gd name="adj" fmla="val 6383"/>
            </a:avLst>
          </a:prstGeom>
          <a:solidFill>
            <a:srgbClr val="33221A"/>
          </a:solidFill>
          <a:ln/>
        </p:spPr>
      </p:sp>
      <p:sp>
        <p:nvSpPr>
          <p:cNvPr id="7" name="Text 4"/>
          <p:cNvSpPr/>
          <p:nvPr/>
        </p:nvSpPr>
        <p:spPr>
          <a:xfrm>
            <a:off x="3999533" y="3340373"/>
            <a:ext cx="1518121" cy="158800"/>
          </a:xfrm>
          <a:prstGeom prst="rect">
            <a:avLst/>
          </a:prstGeom>
          <a:noFill/>
          <a:ln/>
        </p:spPr>
        <p:txBody>
          <a:bodyPr wrap="none" lIns="0" tIns="0" rIns="0" bIns="0" rtlCol="0" anchor="t"/>
          <a:lstStyle/>
          <a:p>
            <a:pPr marL="0" indent="0" algn="l">
              <a:lnSpc>
                <a:spcPct val="133000"/>
              </a:lnSpc>
              <a:buNone/>
            </a:pPr>
            <a:r>
              <a:rPr lang="en-US" sz="750" dirty="0">
                <a:solidFill>
                  <a:srgbClr val="C9C2C0"/>
                </a:solidFill>
                <a:latin typeface="Gelasio" pitchFamily="34" charset="0"/>
                <a:ea typeface="Gelasio" pitchFamily="34" charset="-122"/>
                <a:cs typeface="Gelasio" pitchFamily="34" charset="-120"/>
              </a:rPr>
              <a:t>CYBERSECURITY LAW</a:t>
            </a:r>
            <a:endParaRPr lang="en-US" sz="750" dirty="0"/>
          </a:p>
        </p:txBody>
      </p:sp>
      <p:sp>
        <p:nvSpPr>
          <p:cNvPr id="8" name="Shape 5"/>
          <p:cNvSpPr/>
          <p:nvPr/>
        </p:nvSpPr>
        <p:spPr>
          <a:xfrm>
            <a:off x="5196855" y="3298403"/>
            <a:ext cx="1629817" cy="242739"/>
          </a:xfrm>
          <a:prstGeom prst="roundRect">
            <a:avLst>
              <a:gd name="adj" fmla="val 6132"/>
            </a:avLst>
          </a:prstGeom>
          <a:noFill/>
          <a:ln w="4763">
            <a:solidFill>
              <a:srgbClr val="C49F8C"/>
            </a:solidFill>
            <a:prstDash val="solid"/>
          </a:ln>
        </p:spPr>
      </p:sp>
      <p:sp>
        <p:nvSpPr>
          <p:cNvPr id="9" name="Text 6"/>
          <p:cNvSpPr/>
          <p:nvPr/>
        </p:nvSpPr>
        <p:spPr>
          <a:xfrm>
            <a:off x="5276031" y="3340373"/>
            <a:ext cx="1928664" cy="158800"/>
          </a:xfrm>
          <a:prstGeom prst="rect">
            <a:avLst/>
          </a:prstGeom>
          <a:noFill/>
          <a:ln/>
        </p:spPr>
        <p:txBody>
          <a:bodyPr wrap="none" lIns="0" tIns="0" rIns="0" bIns="0" rtlCol="0" anchor="t"/>
          <a:lstStyle/>
          <a:p>
            <a:pPr marL="0" indent="0" algn="l">
              <a:lnSpc>
                <a:spcPct val="133000"/>
              </a:lnSpc>
              <a:buNone/>
            </a:pPr>
            <a:r>
              <a:rPr lang="en-US" sz="750" dirty="0">
                <a:solidFill>
                  <a:srgbClr val="C49F8C"/>
                </a:solidFill>
                <a:latin typeface="Gelasio" pitchFamily="34" charset="0"/>
                <a:ea typeface="Gelasio" pitchFamily="34" charset="-122"/>
                <a:cs typeface="Gelasio" pitchFamily="34" charset="-120"/>
              </a:rPr>
              <a:t>COMPLIANCE &amp; GOVERNANCE</a:t>
            </a:r>
            <a:endParaRPr lang="en-US" sz="750" dirty="0"/>
          </a:p>
        </p:txBody>
      </p:sp>
      <p:sp>
        <p:nvSpPr>
          <p:cNvPr id="10" name="Shape 7"/>
          <p:cNvSpPr/>
          <p:nvPr/>
        </p:nvSpPr>
        <p:spPr>
          <a:xfrm>
            <a:off x="6888659" y="3298403"/>
            <a:ext cx="951161" cy="242739"/>
          </a:xfrm>
          <a:prstGeom prst="roundRect">
            <a:avLst>
              <a:gd name="adj" fmla="val 6132"/>
            </a:avLst>
          </a:prstGeom>
          <a:noFill/>
          <a:ln w="4763">
            <a:solidFill>
              <a:srgbClr val="C49F8C"/>
            </a:solidFill>
            <a:prstDash val="solid"/>
          </a:ln>
        </p:spPr>
      </p:sp>
      <p:sp>
        <p:nvSpPr>
          <p:cNvPr id="11" name="Text 8"/>
          <p:cNvSpPr/>
          <p:nvPr/>
        </p:nvSpPr>
        <p:spPr>
          <a:xfrm>
            <a:off x="6967835" y="3340373"/>
            <a:ext cx="1250007" cy="158800"/>
          </a:xfrm>
          <a:prstGeom prst="rect">
            <a:avLst/>
          </a:prstGeom>
          <a:noFill/>
          <a:ln/>
        </p:spPr>
        <p:txBody>
          <a:bodyPr wrap="none" lIns="0" tIns="0" rIns="0" bIns="0" rtlCol="0" anchor="t"/>
          <a:lstStyle/>
          <a:p>
            <a:pPr marL="0" indent="0" algn="l">
              <a:lnSpc>
                <a:spcPct val="133000"/>
              </a:lnSpc>
              <a:buNone/>
            </a:pPr>
            <a:r>
              <a:rPr lang="en-US" sz="750" dirty="0">
                <a:solidFill>
                  <a:srgbClr val="C49F8C"/>
                </a:solidFill>
                <a:latin typeface="Gelasio" pitchFamily="34" charset="0"/>
                <a:ea typeface="Gelasio" pitchFamily="34" charset="-122"/>
                <a:cs typeface="Gelasio" pitchFamily="34" charset="-120"/>
              </a:rPr>
              <a:t>DIGITAL POLICY</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972517"/>
            <a:ext cx="5345311" cy="387548"/>
          </a:xfrm>
          <a:prstGeom prst="rect">
            <a:avLst/>
          </a:prstGeom>
          <a:noFill/>
          <a:ln/>
        </p:spPr>
        <p:txBody>
          <a:bodyPr wrap="none" lIns="0" tIns="0" rIns="0" bIns="0" rtlCol="0" anchor="t"/>
          <a:lstStyle/>
          <a:p>
            <a:pPr marL="0" indent="0" algn="l">
              <a:lnSpc>
                <a:spcPct val="104000"/>
              </a:lnSpc>
              <a:buNone/>
            </a:pPr>
            <a:r>
              <a:rPr lang="en-US" sz="2400" dirty="0">
                <a:solidFill>
                  <a:srgbClr val="D8B6A4"/>
                </a:solidFill>
                <a:latin typeface="Gelasio" pitchFamily="34" charset="0"/>
                <a:ea typeface="Gelasio" pitchFamily="34" charset="-122"/>
                <a:cs typeface="Gelasio" pitchFamily="34" charset="-120"/>
              </a:rPr>
              <a:t>The Hidden War: Why Law Matters</a:t>
            </a:r>
            <a:endParaRPr lang="en-US" sz="2400" dirty="0"/>
          </a:p>
        </p:txBody>
      </p:sp>
      <p:sp>
        <p:nvSpPr>
          <p:cNvPr id="3" name="Text 1"/>
          <p:cNvSpPr/>
          <p:nvPr/>
        </p:nvSpPr>
        <p:spPr>
          <a:xfrm>
            <a:off x="496119" y="1608088"/>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Cybercrime is no longer the domain of lone hackers in dark rooms — it is a global, organized threat with devastating real-world consequences. Without a robust legal framework, the digital world would be a lawless frontier.</a:t>
            </a:r>
            <a:endParaRPr lang="en-US" sz="950" dirty="0"/>
          </a:p>
        </p:txBody>
      </p:sp>
      <p:sp>
        <p:nvSpPr>
          <p:cNvPr id="4" name="Text 2"/>
          <p:cNvSpPr/>
          <p:nvPr/>
        </p:nvSpPr>
        <p:spPr>
          <a:xfrm>
            <a:off x="496119" y="2206526"/>
            <a:ext cx="2613868" cy="409352"/>
          </a:xfrm>
          <a:prstGeom prst="rect">
            <a:avLst/>
          </a:prstGeom>
          <a:noFill/>
          <a:ln/>
        </p:spPr>
        <p:txBody>
          <a:bodyPr wrap="none" lIns="0" tIns="0" rIns="0" bIns="0" rtlCol="0" anchor="t"/>
          <a:lstStyle/>
          <a:p>
            <a:pPr marL="0" indent="0" algn="ctr">
              <a:lnSpc>
                <a:spcPct val="83000"/>
              </a:lnSpc>
              <a:buNone/>
            </a:pPr>
            <a:r>
              <a:rPr lang="en-US" sz="3200" dirty="0">
                <a:solidFill>
                  <a:srgbClr val="C9C2C0"/>
                </a:solidFill>
                <a:latin typeface="Gelasio" pitchFamily="34" charset="0"/>
                <a:ea typeface="Gelasio" pitchFamily="34" charset="-122"/>
                <a:cs typeface="Gelasio" pitchFamily="34" charset="-120"/>
              </a:rPr>
              <a:t>$10.5T</a:t>
            </a:r>
            <a:endParaRPr lang="en-US" sz="3200" dirty="0"/>
          </a:p>
        </p:txBody>
      </p:sp>
      <p:sp>
        <p:nvSpPr>
          <p:cNvPr id="5" name="Text 3"/>
          <p:cNvSpPr/>
          <p:nvPr/>
        </p:nvSpPr>
        <p:spPr>
          <a:xfrm>
            <a:off x="968573" y="2770882"/>
            <a:ext cx="1668959" cy="193849"/>
          </a:xfrm>
          <a:prstGeom prst="rect">
            <a:avLst/>
          </a:prstGeom>
          <a:noFill/>
          <a:ln/>
        </p:spPr>
        <p:txBody>
          <a:bodyPr wrap="none" lIns="0" tIns="0" rIns="0" bIns="0" rtlCol="0" anchor="t"/>
          <a:lstStyle/>
          <a:p>
            <a:pPr marL="0" indent="0" algn="ctr">
              <a:lnSpc>
                <a:spcPct val="104000"/>
              </a:lnSpc>
              <a:buNone/>
            </a:pPr>
            <a:r>
              <a:rPr lang="en-US" sz="1200" dirty="0">
                <a:solidFill>
                  <a:srgbClr val="C9C2C0"/>
                </a:solidFill>
                <a:latin typeface="Gelasio" pitchFamily="34" charset="0"/>
                <a:ea typeface="Gelasio" pitchFamily="34" charset="-122"/>
                <a:cs typeface="Gelasio" pitchFamily="34" charset="-120"/>
              </a:rPr>
              <a:t>Annual Cybercrime Cost</a:t>
            </a:r>
            <a:endParaRPr lang="en-US" sz="1200" dirty="0"/>
          </a:p>
        </p:txBody>
      </p:sp>
      <p:sp>
        <p:nvSpPr>
          <p:cNvPr id="6" name="Text 4"/>
          <p:cNvSpPr/>
          <p:nvPr/>
        </p:nvSpPr>
        <p:spPr>
          <a:xfrm>
            <a:off x="496119" y="3039145"/>
            <a:ext cx="2613868" cy="595387"/>
          </a:xfrm>
          <a:prstGeom prst="rect">
            <a:avLst/>
          </a:prstGeom>
          <a:noFill/>
          <a:ln/>
        </p:spPr>
        <p:txBody>
          <a:bodyPr wrap="square" lIns="0" tIns="0" rIns="0" bIns="0" rtlCol="0" anchor="t">
            <a:normAutofit/>
          </a:bodyPr>
          <a:lstStyle/>
          <a:p>
            <a:pPr marL="0" indent="0" algn="ctr">
              <a:lnSpc>
                <a:spcPct val="133000"/>
              </a:lnSpc>
              <a:buNone/>
            </a:pPr>
            <a:r>
              <a:rPr lang="en-US" sz="950" dirty="0">
                <a:solidFill>
                  <a:srgbClr val="C9C2C0"/>
                </a:solidFill>
                <a:latin typeface="Gelasio" pitchFamily="34" charset="0"/>
                <a:ea typeface="Gelasio" pitchFamily="34" charset="-122"/>
                <a:cs typeface="Gelasio" pitchFamily="34" charset="-120"/>
              </a:rPr>
              <a:t>Projected global damages by 2025, making cybercrime more costly than most national economies</a:t>
            </a:r>
            <a:endParaRPr lang="en-US" sz="950" dirty="0"/>
          </a:p>
        </p:txBody>
      </p:sp>
      <p:sp>
        <p:nvSpPr>
          <p:cNvPr id="7" name="Text 5"/>
          <p:cNvSpPr/>
          <p:nvPr/>
        </p:nvSpPr>
        <p:spPr>
          <a:xfrm>
            <a:off x="3264991" y="2206526"/>
            <a:ext cx="2613943" cy="409352"/>
          </a:xfrm>
          <a:prstGeom prst="rect">
            <a:avLst/>
          </a:prstGeom>
          <a:noFill/>
          <a:ln/>
        </p:spPr>
        <p:txBody>
          <a:bodyPr wrap="none" lIns="0" tIns="0" rIns="0" bIns="0" rtlCol="0" anchor="t"/>
          <a:lstStyle/>
          <a:p>
            <a:pPr marL="0" indent="0" algn="ctr">
              <a:lnSpc>
                <a:spcPct val="83000"/>
              </a:lnSpc>
              <a:buNone/>
            </a:pPr>
            <a:r>
              <a:rPr lang="en-US" sz="3200" dirty="0">
                <a:solidFill>
                  <a:srgbClr val="C9C2C0"/>
                </a:solidFill>
                <a:latin typeface="Gelasio" pitchFamily="34" charset="0"/>
                <a:ea typeface="Gelasio" pitchFamily="34" charset="-122"/>
                <a:cs typeface="Gelasio" pitchFamily="34" charset="-120"/>
              </a:rPr>
              <a:t>39s</a:t>
            </a:r>
            <a:endParaRPr lang="en-US" sz="3200" dirty="0"/>
          </a:p>
        </p:txBody>
      </p:sp>
      <p:sp>
        <p:nvSpPr>
          <p:cNvPr id="8" name="Text 6"/>
          <p:cNvSpPr/>
          <p:nvPr/>
        </p:nvSpPr>
        <p:spPr>
          <a:xfrm>
            <a:off x="3796680" y="2770882"/>
            <a:ext cx="1550566" cy="193849"/>
          </a:xfrm>
          <a:prstGeom prst="rect">
            <a:avLst/>
          </a:prstGeom>
          <a:noFill/>
          <a:ln/>
        </p:spPr>
        <p:txBody>
          <a:bodyPr wrap="none" lIns="0" tIns="0" rIns="0" bIns="0" rtlCol="0" anchor="t"/>
          <a:lstStyle/>
          <a:p>
            <a:pPr marL="0" indent="0" algn="ctr">
              <a:lnSpc>
                <a:spcPct val="104000"/>
              </a:lnSpc>
              <a:buNone/>
            </a:pPr>
            <a:r>
              <a:rPr lang="en-US" sz="1200" dirty="0">
                <a:solidFill>
                  <a:srgbClr val="C9C2C0"/>
                </a:solidFill>
                <a:latin typeface="Gelasio" pitchFamily="34" charset="0"/>
                <a:ea typeface="Gelasio" pitchFamily="34" charset="-122"/>
                <a:cs typeface="Gelasio" pitchFamily="34" charset="-120"/>
              </a:rPr>
              <a:t>Attack Frequency</a:t>
            </a:r>
            <a:endParaRPr lang="en-US" sz="1200" dirty="0"/>
          </a:p>
        </p:txBody>
      </p:sp>
      <p:sp>
        <p:nvSpPr>
          <p:cNvPr id="9" name="Text 7"/>
          <p:cNvSpPr/>
          <p:nvPr/>
        </p:nvSpPr>
        <p:spPr>
          <a:xfrm>
            <a:off x="3264991" y="3039145"/>
            <a:ext cx="2613943" cy="396925"/>
          </a:xfrm>
          <a:prstGeom prst="rect">
            <a:avLst/>
          </a:prstGeom>
          <a:noFill/>
          <a:ln/>
        </p:spPr>
        <p:txBody>
          <a:bodyPr wrap="square" lIns="0" tIns="0" rIns="0" bIns="0" rtlCol="0" anchor="t">
            <a:normAutofit/>
          </a:bodyPr>
          <a:lstStyle/>
          <a:p>
            <a:pPr marL="0" indent="0" algn="ctr">
              <a:lnSpc>
                <a:spcPct val="133000"/>
              </a:lnSpc>
              <a:buNone/>
            </a:pPr>
            <a:r>
              <a:rPr lang="en-US" sz="950" dirty="0">
                <a:solidFill>
                  <a:srgbClr val="C9C2C0"/>
                </a:solidFill>
                <a:latin typeface="Gelasio" pitchFamily="34" charset="0"/>
                <a:ea typeface="Gelasio" pitchFamily="34" charset="-122"/>
                <a:cs typeface="Gelasio" pitchFamily="34" charset="-120"/>
              </a:rPr>
              <a:t>A cyberattack occurs somewhere in the world every 39 seconds, on average</a:t>
            </a:r>
            <a:endParaRPr lang="en-US" sz="950" dirty="0"/>
          </a:p>
        </p:txBody>
      </p:sp>
      <p:sp>
        <p:nvSpPr>
          <p:cNvPr id="10" name="Text 8"/>
          <p:cNvSpPr/>
          <p:nvPr/>
        </p:nvSpPr>
        <p:spPr>
          <a:xfrm>
            <a:off x="6033939" y="2206526"/>
            <a:ext cx="2613943" cy="409352"/>
          </a:xfrm>
          <a:prstGeom prst="rect">
            <a:avLst/>
          </a:prstGeom>
          <a:noFill/>
          <a:ln/>
        </p:spPr>
        <p:txBody>
          <a:bodyPr wrap="none" lIns="0" tIns="0" rIns="0" bIns="0" rtlCol="0" anchor="t"/>
          <a:lstStyle/>
          <a:p>
            <a:pPr marL="0" indent="0" algn="ctr">
              <a:lnSpc>
                <a:spcPct val="83000"/>
              </a:lnSpc>
              <a:buNone/>
            </a:pPr>
            <a:r>
              <a:rPr lang="en-US" sz="3200" dirty="0">
                <a:solidFill>
                  <a:srgbClr val="C9C2C0"/>
                </a:solidFill>
                <a:latin typeface="Gelasio" pitchFamily="34" charset="0"/>
                <a:ea typeface="Gelasio" pitchFamily="34" charset="-122"/>
                <a:cs typeface="Gelasio" pitchFamily="34" charset="-120"/>
              </a:rPr>
              <a:t>60%</a:t>
            </a:r>
            <a:endParaRPr lang="en-US" sz="3200" dirty="0"/>
          </a:p>
        </p:txBody>
      </p:sp>
      <p:sp>
        <p:nvSpPr>
          <p:cNvPr id="11" name="Text 9"/>
          <p:cNvSpPr/>
          <p:nvPr/>
        </p:nvSpPr>
        <p:spPr>
          <a:xfrm>
            <a:off x="6562874" y="2770882"/>
            <a:ext cx="1555998" cy="193849"/>
          </a:xfrm>
          <a:prstGeom prst="rect">
            <a:avLst/>
          </a:prstGeom>
          <a:noFill/>
          <a:ln/>
        </p:spPr>
        <p:txBody>
          <a:bodyPr wrap="none" lIns="0" tIns="0" rIns="0" bIns="0" rtlCol="0" anchor="t"/>
          <a:lstStyle/>
          <a:p>
            <a:pPr marL="0" indent="0" algn="ctr">
              <a:lnSpc>
                <a:spcPct val="104000"/>
              </a:lnSpc>
              <a:buNone/>
            </a:pPr>
            <a:r>
              <a:rPr lang="en-US" sz="1200" dirty="0">
                <a:solidFill>
                  <a:srgbClr val="C9C2C0"/>
                </a:solidFill>
                <a:latin typeface="Gelasio" pitchFamily="34" charset="0"/>
                <a:ea typeface="Gelasio" pitchFamily="34" charset="-122"/>
                <a:cs typeface="Gelasio" pitchFamily="34" charset="-120"/>
              </a:rPr>
              <a:t>Small Business Impact</a:t>
            </a:r>
            <a:endParaRPr lang="en-US" sz="1200" dirty="0"/>
          </a:p>
        </p:txBody>
      </p:sp>
      <p:sp>
        <p:nvSpPr>
          <p:cNvPr id="12" name="Text 10"/>
          <p:cNvSpPr/>
          <p:nvPr/>
        </p:nvSpPr>
        <p:spPr>
          <a:xfrm>
            <a:off x="6033939" y="3039145"/>
            <a:ext cx="2613943" cy="396925"/>
          </a:xfrm>
          <a:prstGeom prst="rect">
            <a:avLst/>
          </a:prstGeom>
          <a:noFill/>
          <a:ln/>
        </p:spPr>
        <p:txBody>
          <a:bodyPr wrap="square" lIns="0" tIns="0" rIns="0" bIns="0" rtlCol="0" anchor="t">
            <a:normAutofit/>
          </a:bodyPr>
          <a:lstStyle/>
          <a:p>
            <a:pPr marL="0" indent="0" algn="ctr">
              <a:lnSpc>
                <a:spcPct val="133000"/>
              </a:lnSpc>
              <a:buNone/>
            </a:pPr>
            <a:r>
              <a:rPr lang="en-US" sz="950" dirty="0">
                <a:solidFill>
                  <a:srgbClr val="C9C2C0"/>
                </a:solidFill>
                <a:latin typeface="Gelasio" pitchFamily="34" charset="0"/>
                <a:ea typeface="Gelasio" pitchFamily="34" charset="-122"/>
                <a:cs typeface="Gelasio" pitchFamily="34" charset="-120"/>
              </a:rPr>
              <a:t>Of small businesses close within six months of a significant cyberattack</a:t>
            </a:r>
            <a:endParaRPr lang="en-US" sz="950" dirty="0"/>
          </a:p>
        </p:txBody>
      </p:sp>
      <p:sp>
        <p:nvSpPr>
          <p:cNvPr id="13" name="Text 11"/>
          <p:cNvSpPr/>
          <p:nvPr/>
        </p:nvSpPr>
        <p:spPr>
          <a:xfrm>
            <a:off x="496119" y="3774058"/>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Law serves as the critical firewall between digital order and anarchy — defining what is permissible, establishing consequences, and creating the accountability structures that make the internet safe for commerce, communication, and civic life.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634603"/>
            <a:ext cx="8252147" cy="387548"/>
          </a:xfrm>
          <a:prstGeom prst="rect">
            <a:avLst/>
          </a:prstGeom>
          <a:noFill/>
          <a:ln/>
        </p:spPr>
        <p:txBody>
          <a:bodyPr wrap="none" lIns="0" tIns="0" rIns="0" bIns="0" rtlCol="0" anchor="t"/>
          <a:lstStyle/>
          <a:p>
            <a:pPr marL="0" indent="0" algn="l">
              <a:lnSpc>
                <a:spcPct val="104000"/>
              </a:lnSpc>
              <a:buNone/>
            </a:pPr>
            <a:r>
              <a:rPr lang="en-US" sz="2400" dirty="0">
                <a:solidFill>
                  <a:srgbClr val="D8B6A4"/>
                </a:solidFill>
                <a:latin typeface="Gelasio" pitchFamily="34" charset="0"/>
                <a:ea typeface="Gelasio" pitchFamily="34" charset="-122"/>
                <a:cs typeface="Gelasio" pitchFamily="34" charset="-120"/>
              </a:rPr>
              <a:t>The Foundation: Computer Fraud and Abuse Act (CFAA)</a:t>
            </a:r>
            <a:endParaRPr lang="en-US" sz="2400" dirty="0"/>
          </a:p>
        </p:txBody>
      </p:sp>
      <p:sp>
        <p:nvSpPr>
          <p:cNvPr id="3" name="Shape 1"/>
          <p:cNvSpPr/>
          <p:nvPr/>
        </p:nvSpPr>
        <p:spPr>
          <a:xfrm>
            <a:off x="406822" y="1208187"/>
            <a:ext cx="4103191" cy="3300710"/>
          </a:xfrm>
          <a:prstGeom prst="roundRect">
            <a:avLst>
              <a:gd name="adj" fmla="val 564"/>
            </a:avLst>
          </a:prstGeom>
          <a:solidFill>
            <a:srgbClr val="C49F8C"/>
          </a:solidFill>
          <a:ln/>
        </p:spPr>
      </p:sp>
      <p:sp>
        <p:nvSpPr>
          <p:cNvPr id="4" name="Text 2"/>
          <p:cNvSpPr/>
          <p:nvPr/>
        </p:nvSpPr>
        <p:spPr>
          <a:xfrm>
            <a:off x="530796" y="1332161"/>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Gelasio" pitchFamily="34" charset="0"/>
                <a:ea typeface="Gelasio" pitchFamily="34" charset="-122"/>
                <a:cs typeface="Gelasio" pitchFamily="34" charset="-120"/>
              </a:rPr>
              <a:t>Enacted 1984</a:t>
            </a:r>
            <a:endParaRPr lang="en-US" sz="1200" dirty="0"/>
          </a:p>
        </p:txBody>
      </p:sp>
      <p:sp>
        <p:nvSpPr>
          <p:cNvPr id="5" name="Text 3"/>
          <p:cNvSpPr/>
          <p:nvPr/>
        </p:nvSpPr>
        <p:spPr>
          <a:xfrm>
            <a:off x="530796" y="1649983"/>
            <a:ext cx="3855244"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Gelasio" pitchFamily="34" charset="0"/>
                <a:ea typeface="Gelasio" pitchFamily="34" charset="-122"/>
                <a:cs typeface="Gelasio" pitchFamily="34" charset="-120"/>
              </a:rPr>
              <a:t>The CFAA is the cornerstone of U.S. federal cybersecurity legislation — the original "anti-hacking" statute that established criminal liability for unauthorized computer access.</a:t>
            </a:r>
            <a:endParaRPr lang="en-US" sz="950" dirty="0"/>
          </a:p>
        </p:txBody>
      </p:sp>
      <p:sp>
        <p:nvSpPr>
          <p:cNvPr id="6" name="Text 4"/>
          <p:cNvSpPr/>
          <p:nvPr/>
        </p:nvSpPr>
        <p:spPr>
          <a:xfrm>
            <a:off x="530796" y="2356991"/>
            <a:ext cx="3855244" cy="68215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000000"/>
                </a:solidFill>
                <a:latin typeface="Gelasio" pitchFamily="34" charset="0"/>
                <a:ea typeface="Gelasio" pitchFamily="34" charset="-122"/>
                <a:cs typeface="Gelasio" pitchFamily="34" charset="-120"/>
              </a:rPr>
              <a:t>Prohibits unauthorized access to "protected computers"</a:t>
            </a:r>
            <a:endParaRPr lang="en-US" sz="950" dirty="0"/>
          </a:p>
          <a:p>
            <a:pPr marL="342900" indent="-342900" algn="l">
              <a:lnSpc>
                <a:spcPct val="133000"/>
              </a:lnSpc>
              <a:buSzPct val="100000"/>
              <a:buChar char="•"/>
            </a:pPr>
            <a:r>
              <a:rPr lang="en-US" sz="950" dirty="0">
                <a:solidFill>
                  <a:srgbClr val="000000"/>
                </a:solidFill>
                <a:latin typeface="Gelasio" pitchFamily="34" charset="0"/>
                <a:ea typeface="Gelasio" pitchFamily="34" charset="-122"/>
                <a:cs typeface="Gelasio" pitchFamily="34" charset="-120"/>
              </a:rPr>
              <a:t>Covers both external intrusions and insider threats</a:t>
            </a:r>
            <a:endParaRPr lang="en-US" sz="950" dirty="0"/>
          </a:p>
          <a:p>
            <a:pPr marL="342900" indent="-342900" algn="l">
              <a:lnSpc>
                <a:spcPct val="133000"/>
              </a:lnSpc>
              <a:buSzPct val="100000"/>
              <a:buChar char="•"/>
            </a:pPr>
            <a:r>
              <a:rPr lang="en-US" sz="950" dirty="0">
                <a:solidFill>
                  <a:srgbClr val="000000"/>
                </a:solidFill>
                <a:latin typeface="Gelasio" pitchFamily="34" charset="0"/>
                <a:ea typeface="Gelasio" pitchFamily="34" charset="-122"/>
                <a:cs typeface="Gelasio" pitchFamily="34" charset="-120"/>
              </a:rPr>
              <a:t>Applies to any computer used in interstate commerce</a:t>
            </a:r>
            <a:endParaRPr lang="en-US" sz="950" dirty="0"/>
          </a:p>
        </p:txBody>
      </p:sp>
      <p:sp>
        <p:nvSpPr>
          <p:cNvPr id="7" name="Text 5"/>
          <p:cNvSpPr/>
          <p:nvPr/>
        </p:nvSpPr>
        <p:spPr>
          <a:xfrm>
            <a:off x="4728046" y="1332161"/>
            <a:ext cx="2786286" cy="193849"/>
          </a:xfrm>
          <a:prstGeom prst="rect">
            <a:avLst/>
          </a:prstGeom>
          <a:noFill/>
          <a:ln/>
        </p:spPr>
        <p:txBody>
          <a:bodyPr wrap="none" lIns="0" tIns="0" rIns="0" bIns="0" rtlCol="0" anchor="t"/>
          <a:lstStyle/>
          <a:p>
            <a:pPr marL="0" indent="0" algn="l">
              <a:lnSpc>
                <a:spcPct val="104000"/>
              </a:lnSpc>
              <a:buNone/>
            </a:pPr>
            <a:r>
              <a:rPr lang="en-US" sz="1200" dirty="0">
                <a:solidFill>
                  <a:srgbClr val="D8B6A4"/>
                </a:solidFill>
                <a:latin typeface="Gelasio" pitchFamily="34" charset="0"/>
                <a:ea typeface="Gelasio" pitchFamily="34" charset="-122"/>
                <a:cs typeface="Gelasio" pitchFamily="34" charset="-120"/>
              </a:rPr>
              <a:t>Evolution Through the Patriot Act</a:t>
            </a:r>
            <a:endParaRPr lang="en-US" sz="1200" dirty="0"/>
          </a:p>
        </p:txBody>
      </p:sp>
      <p:sp>
        <p:nvSpPr>
          <p:cNvPr id="8" name="Text 6"/>
          <p:cNvSpPr/>
          <p:nvPr/>
        </p:nvSpPr>
        <p:spPr>
          <a:xfrm>
            <a:off x="4728046" y="1649983"/>
            <a:ext cx="3924598" cy="1699320"/>
          </a:xfrm>
          <a:prstGeom prst="rect">
            <a:avLst/>
          </a:prstGeom>
          <a:noFill/>
          <a:ln/>
        </p:spPr>
        <p:txBody>
          <a:bodyPr wrap="square" lIns="0" tIns="0" rIns="0" bIns="0" rtlCol="0" anchor="t">
            <a:normAutofit/>
          </a:bodyPr>
          <a:lstStyle/>
          <a:p>
            <a:pPr marL="0" indent="0" algn="l">
              <a:lnSpc>
                <a:spcPct val="133000"/>
              </a:lnSpc>
              <a:spcAft>
                <a:spcPts val="850"/>
              </a:spcAft>
              <a:buNone/>
            </a:pPr>
            <a:r>
              <a:rPr lang="en-US" sz="950" dirty="0">
                <a:solidFill>
                  <a:srgbClr val="C9C2C0"/>
                </a:solidFill>
                <a:latin typeface="Gelasio" pitchFamily="34" charset="0"/>
                <a:ea typeface="Gelasio" pitchFamily="34" charset="-122"/>
                <a:cs typeface="Gelasio" pitchFamily="34" charset="-120"/>
              </a:rPr>
              <a:t>The CFAA was significantly expanded following the September 11 attacks. The USA PATRIOT Act broadened its scope to address terrorism-related cyber threats, enhanced surveillance capabilities, and increased penalties for repeat offenders.</a:t>
            </a:r>
            <a:endParaRPr lang="en-US" sz="950" dirty="0"/>
          </a:p>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Key amendments also addressed modern attack vectors including denial-of-service attacks, malware distribution, and credential theft — making the CFAA a living statute that adapts to the evolving threat landscape.</a:t>
            </a:r>
            <a:endParaRPr lang="en-US" sz="950" dirty="0"/>
          </a:p>
        </p:txBody>
      </p:sp>
      <p:sp>
        <p:nvSpPr>
          <p:cNvPr id="9" name="Shape 7"/>
          <p:cNvSpPr/>
          <p:nvPr/>
        </p:nvSpPr>
        <p:spPr>
          <a:xfrm>
            <a:off x="4728046" y="3488829"/>
            <a:ext cx="3924598" cy="880542"/>
          </a:xfrm>
          <a:prstGeom prst="roundRect">
            <a:avLst>
              <a:gd name="adj" fmla="val 2113"/>
            </a:avLst>
          </a:prstGeom>
          <a:solidFill>
            <a:srgbClr val="022349"/>
          </a:solidFill>
          <a:ln/>
        </p:spPr>
      </p:sp>
      <p:pic>
        <p:nvPicPr>
          <p:cNvPr id="10" name="Image 0" descr="preencoded.png"/>
          <p:cNvPicPr>
            <a:picLocks noChangeAspect="1"/>
          </p:cNvPicPr>
          <p:nvPr/>
        </p:nvPicPr>
        <p:blipFill>
          <a:blip r:embed="rId3"/>
          <a:stretch>
            <a:fillRect/>
          </a:stretch>
        </p:blipFill>
        <p:spPr>
          <a:xfrm>
            <a:off x="4852020" y="3668613"/>
            <a:ext cx="155004" cy="123974"/>
          </a:xfrm>
          <a:prstGeom prst="rect">
            <a:avLst/>
          </a:prstGeom>
        </p:spPr>
      </p:pic>
      <p:sp>
        <p:nvSpPr>
          <p:cNvPr id="11" name="Text 8"/>
          <p:cNvSpPr/>
          <p:nvPr/>
        </p:nvSpPr>
        <p:spPr>
          <a:xfrm>
            <a:off x="5130998" y="3631406"/>
            <a:ext cx="339767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FFFFFF"/>
                </a:solidFill>
                <a:latin typeface="Gelasio" pitchFamily="34" charset="0"/>
                <a:ea typeface="Gelasio" pitchFamily="34" charset="-122"/>
                <a:cs typeface="Gelasio" pitchFamily="34" charset="-120"/>
              </a:rPr>
              <a:t>The CFAA remains controversial — critics argue its broad language can criminalize routine security research and terms-of-service violations.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411510"/>
            <a:ext cx="5859810" cy="387548"/>
          </a:xfrm>
          <a:prstGeom prst="rect">
            <a:avLst/>
          </a:prstGeom>
          <a:noFill/>
          <a:ln/>
        </p:spPr>
        <p:txBody>
          <a:bodyPr wrap="none" lIns="0" tIns="0" rIns="0" bIns="0" rtlCol="0" anchor="t"/>
          <a:lstStyle/>
          <a:p>
            <a:pPr marL="0" indent="0" algn="l">
              <a:lnSpc>
                <a:spcPct val="104000"/>
              </a:lnSpc>
              <a:buNone/>
            </a:pPr>
            <a:r>
              <a:rPr lang="en-US" sz="2400" dirty="0">
                <a:solidFill>
                  <a:srgbClr val="D8B6A4"/>
                </a:solidFill>
                <a:latin typeface="Gelasio" pitchFamily="34" charset="0"/>
                <a:ea typeface="Gelasio" pitchFamily="34" charset="-122"/>
                <a:cs typeface="Gelasio" pitchFamily="34" charset="-120"/>
              </a:rPr>
              <a:t>Privacy as a Right: The GDPR Standard</a:t>
            </a:r>
            <a:endParaRPr lang="en-US" sz="2400" dirty="0"/>
          </a:p>
        </p:txBody>
      </p:sp>
      <p:sp>
        <p:nvSpPr>
          <p:cNvPr id="3" name="Text 1"/>
          <p:cNvSpPr/>
          <p:nvPr/>
        </p:nvSpPr>
        <p:spPr>
          <a:xfrm>
            <a:off x="496119" y="1047080"/>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The General Data Protection Regulation (GDPR), enacted in 2018, redefined data privacy on a global scale. It established that personal data belongs to the individual — not the corporation — and set a new worldwide benchmark for data protection law.</a:t>
            </a:r>
            <a:endParaRPr lang="en-US" sz="9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583531"/>
            <a:ext cx="4013895" cy="1512243"/>
          </a:xfrm>
          <a:prstGeom prst="rect">
            <a:avLst/>
          </a:prstGeom>
        </p:spPr>
      </p:pic>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0048" y="1690762"/>
            <a:ext cx="186035" cy="186035"/>
          </a:xfrm>
          <a:prstGeom prst="rect">
            <a:avLst/>
          </a:prstGeom>
        </p:spPr>
      </p:pic>
      <p:sp>
        <p:nvSpPr>
          <p:cNvPr id="6" name="Text 2"/>
          <p:cNvSpPr/>
          <p:nvPr/>
        </p:nvSpPr>
        <p:spPr>
          <a:xfrm>
            <a:off x="634380" y="2093863"/>
            <a:ext cx="2130475" cy="193849"/>
          </a:xfrm>
          <a:prstGeom prst="rect">
            <a:avLst/>
          </a:prstGeom>
          <a:noFill/>
          <a:ln/>
        </p:spPr>
        <p:txBody>
          <a:bodyPr wrap="none" lIns="0" tIns="0" rIns="0" bIns="0" rtlCol="0" anchor="t"/>
          <a:lstStyle/>
          <a:p>
            <a:pPr marL="0" indent="0" algn="l">
              <a:lnSpc>
                <a:spcPct val="104000"/>
              </a:lnSpc>
              <a:buNone/>
            </a:pPr>
            <a:r>
              <a:rPr lang="en-US" sz="1200" dirty="0">
                <a:solidFill>
                  <a:srgbClr val="C9C2C0"/>
                </a:solidFill>
                <a:latin typeface="Gelasio" pitchFamily="34" charset="0"/>
                <a:ea typeface="Gelasio" pitchFamily="34" charset="-122"/>
                <a:cs typeface="Gelasio" pitchFamily="34" charset="-120"/>
              </a:rPr>
              <a:t>Mandatory Breach Notification</a:t>
            </a:r>
            <a:endParaRPr lang="en-US" sz="1200" dirty="0"/>
          </a:p>
        </p:txBody>
      </p:sp>
      <p:sp>
        <p:nvSpPr>
          <p:cNvPr id="7" name="Text 3"/>
          <p:cNvSpPr/>
          <p:nvPr/>
        </p:nvSpPr>
        <p:spPr>
          <a:xfrm>
            <a:off x="634380" y="2362126"/>
            <a:ext cx="373737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Organizations must report qualifying data breaches to supervisory authorities within </a:t>
            </a:r>
            <a:r>
              <a:rPr lang="en-US" sz="950" b="1" dirty="0">
                <a:solidFill>
                  <a:srgbClr val="C9C2C0"/>
                </a:solidFill>
                <a:latin typeface="Gelasio" pitchFamily="34" charset="0"/>
                <a:ea typeface="Gelasio" pitchFamily="34" charset="-122"/>
                <a:cs typeface="Gelasio" pitchFamily="34" charset="-120"/>
              </a:rPr>
              <a:t>72 hours</a:t>
            </a:r>
            <a:r>
              <a:rPr lang="en-US" sz="950" dirty="0">
                <a:solidFill>
                  <a:srgbClr val="C9C2C0"/>
                </a:solidFill>
                <a:latin typeface="Gelasio" pitchFamily="34" charset="0"/>
                <a:ea typeface="Gelasio" pitchFamily="34" charset="-122"/>
                <a:cs typeface="Gelasio" pitchFamily="34" charset="-120"/>
              </a:rPr>
              <a:t> of discovery, and to affected individuals when risk is high.</a:t>
            </a:r>
            <a:endParaRPr lang="en-US" sz="9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33987" y="1583531"/>
            <a:ext cx="4013895" cy="1512243"/>
          </a:xfrm>
          <a:prstGeom prst="rect">
            <a:avLst/>
          </a:prstGeom>
        </p:spPr>
      </p:pic>
      <p:pic>
        <p:nvPicPr>
          <p:cNvPr id="9"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47917" y="1690762"/>
            <a:ext cx="186035" cy="186035"/>
          </a:xfrm>
          <a:prstGeom prst="rect">
            <a:avLst/>
          </a:prstGeom>
        </p:spPr>
      </p:pic>
      <p:sp>
        <p:nvSpPr>
          <p:cNvPr id="10" name="Text 4"/>
          <p:cNvSpPr/>
          <p:nvPr/>
        </p:nvSpPr>
        <p:spPr>
          <a:xfrm>
            <a:off x="4772248" y="2093863"/>
            <a:ext cx="1976735" cy="193849"/>
          </a:xfrm>
          <a:prstGeom prst="rect">
            <a:avLst/>
          </a:prstGeom>
          <a:noFill/>
          <a:ln/>
        </p:spPr>
        <p:txBody>
          <a:bodyPr wrap="none" lIns="0" tIns="0" rIns="0" bIns="0" rtlCol="0" anchor="t"/>
          <a:lstStyle/>
          <a:p>
            <a:pPr marL="0" indent="0" algn="l">
              <a:lnSpc>
                <a:spcPct val="104000"/>
              </a:lnSpc>
              <a:buNone/>
            </a:pPr>
            <a:r>
              <a:rPr lang="en-US" sz="1200" dirty="0">
                <a:solidFill>
                  <a:srgbClr val="C9C2C0"/>
                </a:solidFill>
                <a:latin typeface="Gelasio" pitchFamily="34" charset="0"/>
                <a:ea typeface="Gelasio" pitchFamily="34" charset="-122"/>
                <a:cs typeface="Gelasio" pitchFamily="34" charset="-120"/>
              </a:rPr>
              <a:t>Strict Consent Requirements</a:t>
            </a:r>
            <a:endParaRPr lang="en-US" sz="1200" dirty="0"/>
          </a:p>
        </p:txBody>
      </p:sp>
      <p:sp>
        <p:nvSpPr>
          <p:cNvPr id="11" name="Text 5"/>
          <p:cNvSpPr/>
          <p:nvPr/>
        </p:nvSpPr>
        <p:spPr>
          <a:xfrm>
            <a:off x="4772248" y="2362126"/>
            <a:ext cx="373737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Data processing requires explicit, informed, and freely given consent. Pre-checked boxes and vague privacy policies no longer meet the legal standard.</a:t>
            </a:r>
            <a:endParaRPr lang="en-US" sz="950" dirty="0"/>
          </a:p>
        </p:txBody>
      </p:sp>
      <p:pic>
        <p:nvPicPr>
          <p:cNvPr id="12"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3219748"/>
            <a:ext cx="4013895" cy="1512243"/>
          </a:xfrm>
          <a:prstGeom prst="rect">
            <a:avLst/>
          </a:prstGeom>
        </p:spPr>
      </p:pic>
      <p:pic>
        <p:nvPicPr>
          <p:cNvPr id="13"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10048" y="3326978"/>
            <a:ext cx="186035" cy="186035"/>
          </a:xfrm>
          <a:prstGeom prst="rect">
            <a:avLst/>
          </a:prstGeom>
        </p:spPr>
      </p:pic>
      <p:sp>
        <p:nvSpPr>
          <p:cNvPr id="14" name="Text 6"/>
          <p:cNvSpPr/>
          <p:nvPr/>
        </p:nvSpPr>
        <p:spPr>
          <a:xfrm>
            <a:off x="634380" y="3730079"/>
            <a:ext cx="1789137" cy="193849"/>
          </a:xfrm>
          <a:prstGeom prst="rect">
            <a:avLst/>
          </a:prstGeom>
          <a:noFill/>
          <a:ln/>
        </p:spPr>
        <p:txBody>
          <a:bodyPr wrap="none" lIns="0" tIns="0" rIns="0" bIns="0" rtlCol="0" anchor="t"/>
          <a:lstStyle/>
          <a:p>
            <a:pPr marL="0" indent="0" algn="l">
              <a:lnSpc>
                <a:spcPct val="104000"/>
              </a:lnSpc>
              <a:buNone/>
            </a:pPr>
            <a:r>
              <a:rPr lang="en-US" sz="1200" dirty="0">
                <a:solidFill>
                  <a:srgbClr val="C9C2C0"/>
                </a:solidFill>
                <a:latin typeface="Gelasio" pitchFamily="34" charset="0"/>
                <a:ea typeface="Gelasio" pitchFamily="34" charset="-122"/>
                <a:cs typeface="Gelasio" pitchFamily="34" charset="-120"/>
              </a:rPr>
              <a:t>Severe Financial Penalties</a:t>
            </a:r>
            <a:endParaRPr lang="en-US" sz="1200" dirty="0"/>
          </a:p>
        </p:txBody>
      </p:sp>
      <p:sp>
        <p:nvSpPr>
          <p:cNvPr id="15" name="Text 7"/>
          <p:cNvSpPr/>
          <p:nvPr/>
        </p:nvSpPr>
        <p:spPr>
          <a:xfrm>
            <a:off x="634380" y="3998342"/>
            <a:ext cx="373737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Violations can result in fines of up to </a:t>
            </a:r>
            <a:r>
              <a:rPr lang="en-US" sz="950" b="1" dirty="0">
                <a:solidFill>
                  <a:srgbClr val="C9C2C0"/>
                </a:solidFill>
                <a:latin typeface="Gelasio" pitchFamily="34" charset="0"/>
                <a:ea typeface="Gelasio" pitchFamily="34" charset="-122"/>
                <a:cs typeface="Gelasio" pitchFamily="34" charset="-120"/>
              </a:rPr>
              <a:t>4% of annual global turnover</a:t>
            </a:r>
            <a:r>
              <a:rPr lang="en-US" sz="950" dirty="0">
                <a:solidFill>
                  <a:srgbClr val="C9C2C0"/>
                </a:solidFill>
                <a:latin typeface="Gelasio" pitchFamily="34" charset="0"/>
                <a:ea typeface="Gelasio" pitchFamily="34" charset="-122"/>
                <a:cs typeface="Gelasio" pitchFamily="34" charset="-120"/>
              </a:rPr>
              <a:t> or €20 million — whichever is greater. Companies like Amazon and Meta have faced billion-dollar penalties.</a:t>
            </a:r>
            <a:endParaRPr lang="en-US" sz="950" dirty="0"/>
          </a:p>
        </p:txBody>
      </p:sp>
      <p:pic>
        <p:nvPicPr>
          <p:cNvPr id="16" name="Image 6"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33987" y="3219748"/>
            <a:ext cx="4013895" cy="1512243"/>
          </a:xfrm>
          <a:prstGeom prst="rect">
            <a:avLst/>
          </a:prstGeom>
        </p:spPr>
      </p:pic>
      <p:pic>
        <p:nvPicPr>
          <p:cNvPr id="17" name="Image 7"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47917" y="3326978"/>
            <a:ext cx="186035" cy="186035"/>
          </a:xfrm>
          <a:prstGeom prst="rect">
            <a:avLst/>
          </a:prstGeom>
        </p:spPr>
      </p:pic>
      <p:sp>
        <p:nvSpPr>
          <p:cNvPr id="18" name="Text 8"/>
          <p:cNvSpPr/>
          <p:nvPr/>
        </p:nvSpPr>
        <p:spPr>
          <a:xfrm>
            <a:off x="4772248" y="3730079"/>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C9C2C0"/>
                </a:solidFill>
                <a:latin typeface="Gelasio" pitchFamily="34" charset="0"/>
                <a:ea typeface="Gelasio" pitchFamily="34" charset="-122"/>
                <a:cs typeface="Gelasio" pitchFamily="34" charset="-120"/>
              </a:rPr>
              <a:t>Individual Rights</a:t>
            </a:r>
            <a:endParaRPr lang="en-US" sz="1200" dirty="0"/>
          </a:p>
        </p:txBody>
      </p:sp>
      <p:sp>
        <p:nvSpPr>
          <p:cNvPr id="19" name="Text 9"/>
          <p:cNvSpPr/>
          <p:nvPr/>
        </p:nvSpPr>
        <p:spPr>
          <a:xfrm>
            <a:off x="4772248" y="3998342"/>
            <a:ext cx="373737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GDPR grants individuals the right to access, correct, delete, and port their data — fundamentally shifting power from organizations back to people.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724570"/>
            <a:ext cx="7148140" cy="387548"/>
          </a:xfrm>
          <a:prstGeom prst="rect">
            <a:avLst/>
          </a:prstGeom>
          <a:noFill/>
          <a:ln/>
        </p:spPr>
        <p:txBody>
          <a:bodyPr wrap="none" lIns="0" tIns="0" rIns="0" bIns="0" rtlCol="0" anchor="t"/>
          <a:lstStyle/>
          <a:p>
            <a:pPr marL="0" indent="0" algn="l">
              <a:lnSpc>
                <a:spcPct val="104000"/>
              </a:lnSpc>
              <a:buNone/>
            </a:pPr>
            <a:r>
              <a:rPr lang="en-US" sz="2400" dirty="0">
                <a:solidFill>
                  <a:srgbClr val="D8B6A4"/>
                </a:solidFill>
                <a:latin typeface="Gelasio" pitchFamily="34" charset="0"/>
                <a:ea typeface="Gelasio" pitchFamily="34" charset="-122"/>
                <a:cs typeface="Gelasio" pitchFamily="34" charset="-120"/>
              </a:rPr>
              <a:t>Corporate Accountability: Sarbanes-Oxley (SOX)</a:t>
            </a:r>
            <a:endParaRPr lang="en-US" sz="2400" dirty="0"/>
          </a:p>
        </p:txBody>
      </p:sp>
      <p:sp>
        <p:nvSpPr>
          <p:cNvPr id="3" name="Text 1"/>
          <p:cNvSpPr/>
          <p:nvPr/>
        </p:nvSpPr>
        <p:spPr>
          <a:xfrm>
            <a:off x="496119" y="1422127"/>
            <a:ext cx="2955875" cy="193849"/>
          </a:xfrm>
          <a:prstGeom prst="rect">
            <a:avLst/>
          </a:prstGeom>
          <a:noFill/>
          <a:ln/>
        </p:spPr>
        <p:txBody>
          <a:bodyPr wrap="none" lIns="0" tIns="0" rIns="0" bIns="0" rtlCol="0" anchor="t"/>
          <a:lstStyle/>
          <a:p>
            <a:pPr marL="0" indent="0" algn="l">
              <a:lnSpc>
                <a:spcPct val="104000"/>
              </a:lnSpc>
              <a:buNone/>
            </a:pPr>
            <a:r>
              <a:rPr lang="en-US" sz="1200" dirty="0">
                <a:solidFill>
                  <a:srgbClr val="D8B6A4"/>
                </a:solidFill>
                <a:latin typeface="Gelasio" pitchFamily="34" charset="0"/>
                <a:ea typeface="Gelasio" pitchFamily="34" charset="-122"/>
                <a:cs typeface="Gelasio" pitchFamily="34" charset="-120"/>
              </a:rPr>
              <a:t>The Catalyst: Corporate Fraud Crisis</a:t>
            </a:r>
            <a:endParaRPr lang="en-US" sz="1200" dirty="0"/>
          </a:p>
        </p:txBody>
      </p:sp>
      <p:sp>
        <p:nvSpPr>
          <p:cNvPr id="4" name="Text 2"/>
          <p:cNvSpPr/>
          <p:nvPr/>
        </p:nvSpPr>
        <p:spPr>
          <a:xfrm>
            <a:off x="496119" y="1739950"/>
            <a:ext cx="3924598" cy="189778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Passed in 2002 in response to the Enron and WorldCom scandals, the Sarbanes-Oxley Act fundamentally changed how publicly traded companies manage and report financial information. </a:t>
            </a:r>
            <a:r>
              <a:rPr lang="en-US" sz="950" b="1" dirty="0">
                <a:solidFill>
                  <a:srgbClr val="C9C2C0"/>
                </a:solidFill>
                <a:latin typeface="Gelasio" pitchFamily="34" charset="0"/>
                <a:ea typeface="Gelasio" pitchFamily="34" charset="-122"/>
                <a:cs typeface="Gelasio" pitchFamily="34" charset="-120"/>
              </a:rPr>
              <a:t>Section 404</a:t>
            </a:r>
            <a:r>
              <a:rPr lang="en-US" sz="950" dirty="0">
                <a:solidFill>
                  <a:srgbClr val="C9C2C0"/>
                </a:solidFill>
                <a:latin typeface="Gelasio" pitchFamily="34" charset="0"/>
                <a:ea typeface="Gelasio" pitchFamily="34" charset="-122"/>
                <a:cs typeface="Gelasio" pitchFamily="34" charset="-120"/>
              </a:rPr>
              <a:t> is the cybersecurity-relevant core — it mandates that management assess and auditors verify the effectiveness of internal controls over financial reporting.</a:t>
            </a:r>
            <a:endParaRPr lang="en-US" sz="950" dirty="0"/>
          </a:p>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In practice, this means IT departments are now essential auditors. Any system that touches financial data — from ERP platforms to email servers — falls under SOX scrutiny.</a:t>
            </a:r>
            <a:endParaRPr lang="en-US" sz="950" dirty="0"/>
          </a:p>
        </p:txBody>
      </p:sp>
      <p:sp>
        <p:nvSpPr>
          <p:cNvPr id="5" name="Shape 3"/>
          <p:cNvSpPr/>
          <p:nvPr/>
        </p:nvSpPr>
        <p:spPr>
          <a:xfrm>
            <a:off x="4638749" y="1298153"/>
            <a:ext cx="4103191" cy="3120777"/>
          </a:xfrm>
          <a:prstGeom prst="roundRect">
            <a:avLst>
              <a:gd name="adj" fmla="val 596"/>
            </a:avLst>
          </a:prstGeom>
          <a:solidFill>
            <a:srgbClr val="C49F8C"/>
          </a:solidFill>
          <a:ln/>
        </p:spPr>
      </p:sp>
      <p:sp>
        <p:nvSpPr>
          <p:cNvPr id="6" name="Text 4"/>
          <p:cNvSpPr/>
          <p:nvPr/>
        </p:nvSpPr>
        <p:spPr>
          <a:xfrm>
            <a:off x="4762723" y="1422127"/>
            <a:ext cx="2432968"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Gelasio" pitchFamily="34" charset="0"/>
                <a:ea typeface="Gelasio" pitchFamily="34" charset="-122"/>
                <a:cs typeface="Gelasio" pitchFamily="34" charset="-120"/>
              </a:rPr>
              <a:t>The Cost of Non-Compliance</a:t>
            </a:r>
            <a:endParaRPr lang="en-US" sz="1200" dirty="0"/>
          </a:p>
        </p:txBody>
      </p:sp>
      <p:sp>
        <p:nvSpPr>
          <p:cNvPr id="7" name="Text 5"/>
          <p:cNvSpPr/>
          <p:nvPr/>
        </p:nvSpPr>
        <p:spPr>
          <a:xfrm>
            <a:off x="4762723" y="1739950"/>
            <a:ext cx="3855244" cy="1519386"/>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000000"/>
                </a:solidFill>
                <a:latin typeface="Gelasio" pitchFamily="34" charset="0"/>
                <a:ea typeface="Gelasio" pitchFamily="34" charset="-122"/>
                <a:cs typeface="Gelasio" pitchFamily="34" charset="-120"/>
              </a:rPr>
              <a:t>Criminal penalties of up to </a:t>
            </a:r>
            <a:r>
              <a:rPr lang="en-US" sz="950" b="1" dirty="0">
                <a:solidFill>
                  <a:srgbClr val="000000"/>
                </a:solidFill>
                <a:latin typeface="Gelasio" pitchFamily="34" charset="0"/>
                <a:ea typeface="Gelasio" pitchFamily="34" charset="-122"/>
                <a:cs typeface="Gelasio" pitchFamily="34" charset="-120"/>
              </a:rPr>
              <a:t>20 years</a:t>
            </a:r>
            <a:r>
              <a:rPr lang="en-US" sz="950" dirty="0">
                <a:solidFill>
                  <a:srgbClr val="000000"/>
                </a:solidFill>
                <a:latin typeface="Gelasio" pitchFamily="34" charset="0"/>
                <a:ea typeface="Gelasio" pitchFamily="34" charset="-122"/>
                <a:cs typeface="Gelasio" pitchFamily="34" charset="-120"/>
              </a:rPr>
              <a:t> for executives who certify false reports</a:t>
            </a:r>
            <a:endParaRPr lang="en-US" sz="950" dirty="0"/>
          </a:p>
          <a:p>
            <a:pPr marL="342900" indent="-342900" algn="l">
              <a:lnSpc>
                <a:spcPct val="133000"/>
              </a:lnSpc>
              <a:buSzPct val="100000"/>
              <a:buChar char="•"/>
            </a:pPr>
            <a:r>
              <a:rPr lang="en-US" sz="950" dirty="0">
                <a:solidFill>
                  <a:srgbClr val="000000"/>
                </a:solidFill>
                <a:latin typeface="Gelasio" pitchFamily="34" charset="0"/>
                <a:ea typeface="Gelasio" pitchFamily="34" charset="-122"/>
                <a:cs typeface="Gelasio" pitchFamily="34" charset="-120"/>
              </a:rPr>
              <a:t>Fines reaching </a:t>
            </a:r>
            <a:r>
              <a:rPr lang="en-US" sz="950" b="1" dirty="0">
                <a:solidFill>
                  <a:srgbClr val="000000"/>
                </a:solidFill>
                <a:latin typeface="Gelasio" pitchFamily="34" charset="0"/>
                <a:ea typeface="Gelasio" pitchFamily="34" charset="-122"/>
                <a:cs typeface="Gelasio" pitchFamily="34" charset="-120"/>
              </a:rPr>
              <a:t>$5 million</a:t>
            </a:r>
            <a:r>
              <a:rPr lang="en-US" sz="950" dirty="0">
                <a:solidFill>
                  <a:srgbClr val="000000"/>
                </a:solidFill>
                <a:latin typeface="Gelasio" pitchFamily="34" charset="0"/>
                <a:ea typeface="Gelasio" pitchFamily="34" charset="-122"/>
                <a:cs typeface="Gelasio" pitchFamily="34" charset="-120"/>
              </a:rPr>
              <a:t> for individuals and $25 million for organizations</a:t>
            </a:r>
            <a:endParaRPr lang="en-US" sz="950" dirty="0"/>
          </a:p>
          <a:p>
            <a:pPr marL="342900" indent="-342900" algn="l">
              <a:lnSpc>
                <a:spcPct val="133000"/>
              </a:lnSpc>
              <a:buSzPct val="100000"/>
              <a:buChar char="•"/>
            </a:pPr>
            <a:r>
              <a:rPr lang="en-US" sz="950" dirty="0">
                <a:solidFill>
                  <a:srgbClr val="000000"/>
                </a:solidFill>
                <a:latin typeface="Gelasio" pitchFamily="34" charset="0"/>
                <a:ea typeface="Gelasio" pitchFamily="34" charset="-122"/>
                <a:cs typeface="Gelasio" pitchFamily="34" charset="-120"/>
              </a:rPr>
              <a:t>Delisting from stock exchanges and permanent reputational damage</a:t>
            </a:r>
            <a:endParaRPr lang="en-US" sz="950" dirty="0"/>
          </a:p>
          <a:p>
            <a:pPr marL="342900" indent="-342900" algn="l">
              <a:lnSpc>
                <a:spcPct val="133000"/>
              </a:lnSpc>
              <a:buSzPct val="100000"/>
              <a:buChar char="•"/>
            </a:pPr>
            <a:r>
              <a:rPr lang="en-US" sz="950" dirty="0">
                <a:solidFill>
                  <a:srgbClr val="000000"/>
                </a:solidFill>
                <a:latin typeface="Gelasio" pitchFamily="34" charset="0"/>
                <a:ea typeface="Gelasio" pitchFamily="34" charset="-122"/>
                <a:cs typeface="Gelasio" pitchFamily="34" charset="-120"/>
              </a:rPr>
              <a:t>Destroyed shareholder trust — often the most costly consequence</a:t>
            </a:r>
            <a:endParaRPr lang="en-US" sz="950" dirty="0"/>
          </a:p>
        </p:txBody>
      </p:sp>
      <p:sp>
        <p:nvSpPr>
          <p:cNvPr id="8" name="Shape 6"/>
          <p:cNvSpPr/>
          <p:nvPr/>
        </p:nvSpPr>
        <p:spPr>
          <a:xfrm>
            <a:off x="4762723" y="3398862"/>
            <a:ext cx="3855244" cy="880542"/>
          </a:xfrm>
          <a:prstGeom prst="roundRect">
            <a:avLst>
              <a:gd name="adj" fmla="val 2113"/>
            </a:avLst>
          </a:prstGeom>
          <a:solidFill>
            <a:srgbClr val="4B3F02"/>
          </a:solidFill>
          <a:ln/>
        </p:spPr>
      </p:sp>
      <p:pic>
        <p:nvPicPr>
          <p:cNvPr id="9" name="Image 0" descr="preencoded.png"/>
          <p:cNvPicPr>
            <a:picLocks noChangeAspect="1"/>
          </p:cNvPicPr>
          <p:nvPr/>
        </p:nvPicPr>
        <p:blipFill>
          <a:blip r:embed="rId3"/>
          <a:stretch>
            <a:fillRect/>
          </a:stretch>
        </p:blipFill>
        <p:spPr>
          <a:xfrm>
            <a:off x="4886697" y="3578647"/>
            <a:ext cx="155004" cy="123974"/>
          </a:xfrm>
          <a:prstGeom prst="rect">
            <a:avLst/>
          </a:prstGeom>
        </p:spPr>
      </p:pic>
      <p:sp>
        <p:nvSpPr>
          <p:cNvPr id="10" name="Text 7"/>
          <p:cNvSpPr/>
          <p:nvPr/>
        </p:nvSpPr>
        <p:spPr>
          <a:xfrm>
            <a:off x="5165675" y="3541440"/>
            <a:ext cx="332831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Gelasio" pitchFamily="34" charset="0"/>
                <a:ea typeface="Gelasio" pitchFamily="34" charset="-122"/>
                <a:cs typeface="Gelasio" pitchFamily="34" charset="-120"/>
              </a:rPr>
              <a:t>SOX compliance is not a one-time event. It requires continuous monitoring, documentation, and annual recertification.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958528"/>
            <a:ext cx="6444183" cy="387548"/>
          </a:xfrm>
          <a:prstGeom prst="rect">
            <a:avLst/>
          </a:prstGeom>
          <a:noFill/>
          <a:ln/>
        </p:spPr>
        <p:txBody>
          <a:bodyPr wrap="none" lIns="0" tIns="0" rIns="0" bIns="0" rtlCol="0" anchor="t"/>
          <a:lstStyle/>
          <a:p>
            <a:pPr marL="0" indent="0" algn="l">
              <a:lnSpc>
                <a:spcPct val="104000"/>
              </a:lnSpc>
              <a:buNone/>
            </a:pPr>
            <a:r>
              <a:rPr lang="en-US" sz="2400" dirty="0">
                <a:solidFill>
                  <a:srgbClr val="D8B6A4"/>
                </a:solidFill>
                <a:latin typeface="Gelasio" pitchFamily="34" charset="0"/>
                <a:ea typeface="Gelasio" pitchFamily="34" charset="-122"/>
                <a:cs typeface="Gelasio" pitchFamily="34" charset="-120"/>
              </a:rPr>
              <a:t>Industry-Specific Shields: HIPAA &amp; Beyond</a:t>
            </a:r>
            <a:endParaRPr lang="en-US" sz="2400" dirty="0"/>
          </a:p>
        </p:txBody>
      </p:sp>
      <p:sp>
        <p:nvSpPr>
          <p:cNvPr id="3" name="Text 1"/>
          <p:cNvSpPr/>
          <p:nvPr/>
        </p:nvSpPr>
        <p:spPr>
          <a:xfrm>
            <a:off x="496119" y="1594098"/>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Not all data is created equal. Certain industries handle information so sensitive that sector-specific legislation was required to ensure adequate protection. Healthcare leads this category.</a:t>
            </a:r>
            <a:endParaRPr lang="en-US" sz="950" dirty="0"/>
          </a:p>
        </p:txBody>
      </p:sp>
      <p:pic>
        <p:nvPicPr>
          <p:cNvPr id="4" name="Image 0" descr="preencoded.png"/>
          <p:cNvPicPr>
            <a:picLocks noChangeAspect="1"/>
          </p:cNvPicPr>
          <p:nvPr/>
        </p:nvPicPr>
        <p:blipFill>
          <a:blip r:embed="rId3"/>
          <a:stretch>
            <a:fillRect/>
          </a:stretch>
        </p:blipFill>
        <p:spPr>
          <a:xfrm>
            <a:off x="496119" y="2130549"/>
            <a:ext cx="574997" cy="574997"/>
          </a:xfrm>
          <a:prstGeom prst="rect">
            <a:avLst/>
          </a:prstGeom>
        </p:spPr>
      </p:pic>
      <p:sp>
        <p:nvSpPr>
          <p:cNvPr id="5" name="Text 2"/>
          <p:cNvSpPr/>
          <p:nvPr/>
        </p:nvSpPr>
        <p:spPr>
          <a:xfrm>
            <a:off x="1226121" y="2130549"/>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C9C2C0"/>
                </a:solidFill>
                <a:latin typeface="Gelasio" pitchFamily="34" charset="0"/>
                <a:ea typeface="Gelasio" pitchFamily="34" charset="-122"/>
                <a:cs typeface="Gelasio" pitchFamily="34" charset="-120"/>
              </a:rPr>
              <a:t>HIPAA (1996)</a:t>
            </a:r>
            <a:endParaRPr lang="en-US" sz="1200" dirty="0"/>
          </a:p>
        </p:txBody>
      </p:sp>
      <p:sp>
        <p:nvSpPr>
          <p:cNvPr id="6" name="Text 3"/>
          <p:cNvSpPr/>
          <p:nvPr/>
        </p:nvSpPr>
        <p:spPr>
          <a:xfrm>
            <a:off x="1226121" y="2398812"/>
            <a:ext cx="1883866" cy="1786161"/>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The Health Insurance Portability and Accountability Act protects the sanctity of personal health information (PHI). Its Security Rule mandates administrative, physical, and technical safeguards for electronic PHI. Violations can result in fines up to </a:t>
            </a:r>
            <a:r>
              <a:rPr lang="en-US" sz="950" b="1" dirty="0">
                <a:solidFill>
                  <a:srgbClr val="C9C2C0"/>
                </a:solidFill>
                <a:latin typeface="Gelasio" pitchFamily="34" charset="0"/>
                <a:ea typeface="Gelasio" pitchFamily="34" charset="-122"/>
                <a:cs typeface="Gelasio" pitchFamily="34" charset="-120"/>
              </a:rPr>
              <a:t>$1.5 million per year</a:t>
            </a:r>
            <a:r>
              <a:rPr lang="en-US" sz="950" dirty="0">
                <a:solidFill>
                  <a:srgbClr val="C9C2C0"/>
                </a:solidFill>
                <a:latin typeface="Gelasio" pitchFamily="34" charset="0"/>
                <a:ea typeface="Gelasio" pitchFamily="34" charset="-122"/>
                <a:cs typeface="Gelasio" pitchFamily="34" charset="-120"/>
              </a:rPr>
              <a:t> per violation category.</a:t>
            </a:r>
            <a:endParaRPr lang="en-US" sz="950" dirty="0"/>
          </a:p>
        </p:txBody>
      </p:sp>
      <p:pic>
        <p:nvPicPr>
          <p:cNvPr id="7" name="Image 1" descr="preencoded.png"/>
          <p:cNvPicPr>
            <a:picLocks noChangeAspect="1"/>
          </p:cNvPicPr>
          <p:nvPr/>
        </p:nvPicPr>
        <p:blipFill>
          <a:blip r:embed="rId4"/>
          <a:stretch>
            <a:fillRect/>
          </a:stretch>
        </p:blipFill>
        <p:spPr>
          <a:xfrm>
            <a:off x="3264991" y="2130549"/>
            <a:ext cx="574997" cy="574997"/>
          </a:xfrm>
          <a:prstGeom prst="rect">
            <a:avLst/>
          </a:prstGeom>
        </p:spPr>
      </p:pic>
      <p:sp>
        <p:nvSpPr>
          <p:cNvPr id="8" name="Text 4"/>
          <p:cNvSpPr/>
          <p:nvPr/>
        </p:nvSpPr>
        <p:spPr>
          <a:xfrm>
            <a:off x="3994993" y="2130549"/>
            <a:ext cx="1883941"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C9C2C0"/>
                </a:solidFill>
                <a:latin typeface="Gelasio" pitchFamily="34" charset="0"/>
                <a:ea typeface="Gelasio" pitchFamily="34" charset="-122"/>
                <a:cs typeface="Gelasio" pitchFamily="34" charset="-120"/>
              </a:rPr>
              <a:t>Why Industry Standards Matter</a:t>
            </a:r>
            <a:endParaRPr lang="en-US" sz="1200" dirty="0"/>
          </a:p>
        </p:txBody>
      </p:sp>
      <p:sp>
        <p:nvSpPr>
          <p:cNvPr id="9" name="Text 5"/>
          <p:cNvSpPr/>
          <p:nvPr/>
        </p:nvSpPr>
        <p:spPr>
          <a:xfrm>
            <a:off x="3994993" y="2592660"/>
            <a:ext cx="1883941" cy="1587698"/>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Healthcare is the #1 target for ransomware attacks. Industry-specific standards like HIPAA create a baseline security posture that makes organizations harder targets. Compliance frameworks also provide a defensible legal position when incidents occur.</a:t>
            </a:r>
            <a:endParaRPr lang="en-US" sz="950" dirty="0"/>
          </a:p>
        </p:txBody>
      </p:sp>
      <p:pic>
        <p:nvPicPr>
          <p:cNvPr id="10" name="Image 2" descr="preencoded.png"/>
          <p:cNvPicPr>
            <a:picLocks noChangeAspect="1"/>
          </p:cNvPicPr>
          <p:nvPr/>
        </p:nvPicPr>
        <p:blipFill>
          <a:blip r:embed="rId5"/>
          <a:stretch>
            <a:fillRect/>
          </a:stretch>
        </p:blipFill>
        <p:spPr>
          <a:xfrm>
            <a:off x="6033939" y="2130549"/>
            <a:ext cx="574997" cy="574997"/>
          </a:xfrm>
          <a:prstGeom prst="rect">
            <a:avLst/>
          </a:prstGeom>
        </p:spPr>
      </p:pic>
      <p:sp>
        <p:nvSpPr>
          <p:cNvPr id="11" name="Text 6"/>
          <p:cNvSpPr/>
          <p:nvPr/>
        </p:nvSpPr>
        <p:spPr>
          <a:xfrm>
            <a:off x="6763941" y="2130549"/>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C9C2C0"/>
                </a:solidFill>
                <a:latin typeface="Gelasio" pitchFamily="34" charset="0"/>
                <a:ea typeface="Gelasio" pitchFamily="34" charset="-122"/>
                <a:cs typeface="Gelasio" pitchFamily="34" charset="-120"/>
              </a:rPr>
              <a:t>The Human Cost</a:t>
            </a:r>
            <a:endParaRPr lang="en-US" sz="1200" dirty="0"/>
          </a:p>
        </p:txBody>
      </p:sp>
      <p:sp>
        <p:nvSpPr>
          <p:cNvPr id="12" name="Text 7"/>
          <p:cNvSpPr/>
          <p:nvPr/>
        </p:nvSpPr>
        <p:spPr>
          <a:xfrm>
            <a:off x="6763941" y="2398812"/>
            <a:ext cx="1883941" cy="1389236"/>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Data exposure in healthcare doesn't just mean financial loss — it can mean denied insurance, damaged reputations, and life-altering consequences for patients whose most private information becomes public.</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663327"/>
            <a:ext cx="6265069" cy="387548"/>
          </a:xfrm>
          <a:prstGeom prst="rect">
            <a:avLst/>
          </a:prstGeom>
          <a:noFill/>
          <a:ln/>
        </p:spPr>
        <p:txBody>
          <a:bodyPr wrap="none" lIns="0" tIns="0" rIns="0" bIns="0" rtlCol="0" anchor="t"/>
          <a:lstStyle/>
          <a:p>
            <a:pPr marL="0" indent="0" algn="l">
              <a:lnSpc>
                <a:spcPct val="104000"/>
              </a:lnSpc>
              <a:buNone/>
            </a:pPr>
            <a:r>
              <a:rPr lang="en-US" sz="2400" dirty="0">
                <a:solidFill>
                  <a:srgbClr val="D8B6A4"/>
                </a:solidFill>
                <a:latin typeface="Gelasio" pitchFamily="34" charset="0"/>
                <a:ea typeface="Gelasio" pitchFamily="34" charset="-122"/>
                <a:cs typeface="Gelasio" pitchFamily="34" charset="-120"/>
              </a:rPr>
              <a:t>The Cloud Dilemma: Who Owns the Data?</a:t>
            </a:r>
            <a:endParaRPr lang="en-US" sz="2400" dirty="0"/>
          </a:p>
        </p:txBody>
      </p:sp>
      <p:sp>
        <p:nvSpPr>
          <p:cNvPr id="3" name="Text 1"/>
          <p:cNvSpPr/>
          <p:nvPr/>
        </p:nvSpPr>
        <p:spPr>
          <a:xfrm>
            <a:off x="496119" y="1298897"/>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When organizations migrate to the cloud, they hand over physical control of their data to third-party vendors — creating a complex legal landscape around ownership, liability, and access rights.</a:t>
            </a:r>
            <a:endParaRPr lang="en-US" sz="950" dirty="0"/>
          </a:p>
        </p:txBody>
      </p:sp>
      <p:sp>
        <p:nvSpPr>
          <p:cNvPr id="4" name="Shape 2"/>
          <p:cNvSpPr/>
          <p:nvPr/>
        </p:nvSpPr>
        <p:spPr>
          <a:xfrm>
            <a:off x="406822" y="1835348"/>
            <a:ext cx="4103191" cy="2644825"/>
          </a:xfrm>
          <a:prstGeom prst="roundRect">
            <a:avLst>
              <a:gd name="adj" fmla="val 704"/>
            </a:avLst>
          </a:prstGeom>
          <a:solidFill>
            <a:srgbClr val="C49F8C"/>
          </a:solidFill>
          <a:ln/>
        </p:spPr>
      </p:sp>
      <p:sp>
        <p:nvSpPr>
          <p:cNvPr id="5" name="Text 3"/>
          <p:cNvSpPr/>
          <p:nvPr/>
        </p:nvSpPr>
        <p:spPr>
          <a:xfrm>
            <a:off x="530796" y="1959322"/>
            <a:ext cx="3125763"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Gelasio" pitchFamily="34" charset="0"/>
                <a:ea typeface="Gelasio" pitchFamily="34" charset="-122"/>
                <a:cs typeface="Gelasio" pitchFamily="34" charset="-120"/>
              </a:rPr>
              <a:t>The Stored Communications Act (SCA)</a:t>
            </a:r>
            <a:endParaRPr lang="en-US" sz="1200" dirty="0"/>
          </a:p>
        </p:txBody>
      </p:sp>
      <p:sp>
        <p:nvSpPr>
          <p:cNvPr id="6" name="Text 4"/>
          <p:cNvSpPr/>
          <p:nvPr/>
        </p:nvSpPr>
        <p:spPr>
          <a:xfrm>
            <a:off x="530796" y="2277145"/>
            <a:ext cx="3855244" cy="1302395"/>
          </a:xfrm>
          <a:prstGeom prst="rect">
            <a:avLst/>
          </a:prstGeom>
          <a:noFill/>
          <a:ln/>
        </p:spPr>
        <p:txBody>
          <a:bodyPr wrap="square" lIns="0" tIns="0" rIns="0" bIns="0" rtlCol="0" anchor="t">
            <a:normAutofit/>
          </a:bodyPr>
          <a:lstStyle/>
          <a:p>
            <a:pPr marL="0" indent="0" algn="l">
              <a:lnSpc>
                <a:spcPct val="133000"/>
              </a:lnSpc>
              <a:spcAft>
                <a:spcPts val="850"/>
              </a:spcAft>
              <a:buNone/>
            </a:pPr>
            <a:r>
              <a:rPr lang="en-US" sz="950" dirty="0">
                <a:solidFill>
                  <a:srgbClr val="000000"/>
                </a:solidFill>
                <a:latin typeface="Gelasio" pitchFamily="34" charset="0"/>
                <a:ea typeface="Gelasio" pitchFamily="34" charset="-122"/>
                <a:cs typeface="Gelasio" pitchFamily="34" charset="-120"/>
              </a:rPr>
              <a:t>Part of the Electronic Communications Privacy Act (1986), the SCA governs how third-party providers like AWS, Google, and Microsoft handle stored user data. It defines when and how the government can compel disclosure — and what protections users retain.</a:t>
            </a:r>
            <a:endParaRPr lang="en-US" sz="950" dirty="0"/>
          </a:p>
          <a:p>
            <a:pPr marL="0" indent="0" algn="l">
              <a:lnSpc>
                <a:spcPct val="133000"/>
              </a:lnSpc>
              <a:buNone/>
            </a:pPr>
            <a:r>
              <a:rPr lang="en-US" sz="950" dirty="0">
                <a:solidFill>
                  <a:srgbClr val="000000"/>
                </a:solidFill>
                <a:latin typeface="Gelasio" pitchFamily="34" charset="0"/>
                <a:ea typeface="Gelasio" pitchFamily="34" charset="-122"/>
                <a:cs typeface="Gelasio" pitchFamily="34" charset="-120"/>
              </a:rPr>
              <a:t>Key limitation: The SCA was written before cloud computing existed, leaving significant gray areas in modern application.</a:t>
            </a:r>
            <a:endParaRPr lang="en-US" sz="950" dirty="0"/>
          </a:p>
        </p:txBody>
      </p:sp>
      <p:sp>
        <p:nvSpPr>
          <p:cNvPr id="7" name="Text 5"/>
          <p:cNvSpPr/>
          <p:nvPr/>
        </p:nvSpPr>
        <p:spPr>
          <a:xfrm>
            <a:off x="4728046" y="1959322"/>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D8B6A4"/>
                </a:solidFill>
                <a:latin typeface="Gelasio" pitchFamily="34" charset="0"/>
                <a:ea typeface="Gelasio" pitchFamily="34" charset="-122"/>
                <a:cs typeface="Gelasio" pitchFamily="34" charset="-120"/>
              </a:rPr>
              <a:t>The Vulnerability Gap</a:t>
            </a:r>
            <a:endParaRPr lang="en-US" sz="1200" dirty="0"/>
          </a:p>
        </p:txBody>
      </p:sp>
      <p:sp>
        <p:nvSpPr>
          <p:cNvPr id="8" name="Text 6"/>
          <p:cNvSpPr/>
          <p:nvPr/>
        </p:nvSpPr>
        <p:spPr>
          <a:xfrm>
            <a:off x="4728046" y="2277145"/>
            <a:ext cx="3924598"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When servers move outside your security perimeter, your legal obligations don't disappear — they multiply. Organizations remain liable for data breaches even when the vulnerability originates with a cloud provider.</a:t>
            </a:r>
            <a:endParaRPr lang="en-US" sz="950" dirty="0"/>
          </a:p>
        </p:txBody>
      </p:sp>
      <p:sp>
        <p:nvSpPr>
          <p:cNvPr id="9" name="Text 7"/>
          <p:cNvSpPr/>
          <p:nvPr/>
        </p:nvSpPr>
        <p:spPr>
          <a:xfrm>
            <a:off x="4728046" y="3194968"/>
            <a:ext cx="2039838" cy="193849"/>
          </a:xfrm>
          <a:prstGeom prst="rect">
            <a:avLst/>
          </a:prstGeom>
          <a:noFill/>
          <a:ln/>
        </p:spPr>
        <p:txBody>
          <a:bodyPr wrap="none" lIns="0" tIns="0" rIns="0" bIns="0" rtlCol="0" anchor="t"/>
          <a:lstStyle/>
          <a:p>
            <a:pPr marL="0" indent="0" algn="l">
              <a:lnSpc>
                <a:spcPct val="104000"/>
              </a:lnSpc>
              <a:buNone/>
            </a:pPr>
            <a:r>
              <a:rPr lang="en-US" sz="1200" dirty="0">
                <a:solidFill>
                  <a:srgbClr val="D8B6A4"/>
                </a:solidFill>
                <a:latin typeface="Gelasio" pitchFamily="34" charset="0"/>
                <a:ea typeface="Gelasio" pitchFamily="34" charset="-122"/>
                <a:cs typeface="Gelasio" pitchFamily="34" charset="-120"/>
              </a:rPr>
              <a:t>Legal Vetting Priorities</a:t>
            </a:r>
            <a:endParaRPr lang="en-US" sz="1200" dirty="0"/>
          </a:p>
        </p:txBody>
      </p:sp>
      <p:sp>
        <p:nvSpPr>
          <p:cNvPr id="10" name="Text 8"/>
          <p:cNvSpPr/>
          <p:nvPr/>
        </p:nvSpPr>
        <p:spPr>
          <a:xfrm>
            <a:off x="4728046" y="3512790"/>
            <a:ext cx="3924598" cy="92399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C9C2C0"/>
                </a:solidFill>
                <a:latin typeface="Gelasio" pitchFamily="34" charset="0"/>
                <a:ea typeface="Gelasio" pitchFamily="34" charset="-122"/>
                <a:cs typeface="Gelasio" pitchFamily="34" charset="-120"/>
              </a:rPr>
              <a:t>Data residency and cross-border transfer clauses</a:t>
            </a:r>
            <a:endParaRPr lang="en-US" sz="950" dirty="0"/>
          </a:p>
          <a:p>
            <a:pPr marL="342900" indent="-342900" algn="l">
              <a:lnSpc>
                <a:spcPct val="133000"/>
              </a:lnSpc>
              <a:buSzPct val="100000"/>
              <a:buChar char="•"/>
            </a:pPr>
            <a:r>
              <a:rPr lang="en-US" sz="950" dirty="0">
                <a:solidFill>
                  <a:srgbClr val="C9C2C0"/>
                </a:solidFill>
                <a:latin typeface="Gelasio" pitchFamily="34" charset="0"/>
                <a:ea typeface="Gelasio" pitchFamily="34" charset="-122"/>
                <a:cs typeface="Gelasio" pitchFamily="34" charset="-120"/>
              </a:rPr>
              <a:t>Breach notification timelines and responsibilities</a:t>
            </a:r>
            <a:endParaRPr lang="en-US" sz="950" dirty="0"/>
          </a:p>
          <a:p>
            <a:pPr marL="342900" indent="-342900" algn="l">
              <a:lnSpc>
                <a:spcPct val="133000"/>
              </a:lnSpc>
              <a:buSzPct val="100000"/>
              <a:buChar char="•"/>
            </a:pPr>
            <a:r>
              <a:rPr lang="en-US" sz="950" dirty="0">
                <a:solidFill>
                  <a:srgbClr val="C9C2C0"/>
                </a:solidFill>
                <a:latin typeface="Gelasio" pitchFamily="34" charset="0"/>
                <a:ea typeface="Gelasio" pitchFamily="34" charset="-122"/>
                <a:cs typeface="Gelasio" pitchFamily="34" charset="-120"/>
              </a:rPr>
              <a:t>Audit rights and compliance certifications (SOC 2, ISO 27001)</a:t>
            </a:r>
            <a:endParaRPr lang="en-US" sz="950" dirty="0"/>
          </a:p>
          <a:p>
            <a:pPr marL="342900" indent="-342900" algn="l">
              <a:lnSpc>
                <a:spcPct val="133000"/>
              </a:lnSpc>
              <a:buSzPct val="100000"/>
              <a:buChar char="•"/>
            </a:pPr>
            <a:r>
              <a:rPr lang="en-US" sz="950" dirty="0">
                <a:solidFill>
                  <a:srgbClr val="C9C2C0"/>
                </a:solidFill>
                <a:latin typeface="Gelasio" pitchFamily="34" charset="0"/>
                <a:ea typeface="Gelasio" pitchFamily="34" charset="-122"/>
                <a:cs typeface="Gelasio" pitchFamily="34" charset="-120"/>
              </a:rPr>
              <a:t>Liability caps and indemnification provisions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552450"/>
            <a:ext cx="6883747" cy="387548"/>
          </a:xfrm>
          <a:prstGeom prst="rect">
            <a:avLst/>
          </a:prstGeom>
          <a:noFill/>
          <a:ln/>
        </p:spPr>
        <p:txBody>
          <a:bodyPr wrap="none" lIns="0" tIns="0" rIns="0" bIns="0" rtlCol="0" anchor="t"/>
          <a:lstStyle/>
          <a:p>
            <a:pPr marL="0" indent="0" algn="l">
              <a:lnSpc>
                <a:spcPct val="104000"/>
              </a:lnSpc>
              <a:buNone/>
            </a:pPr>
            <a:r>
              <a:rPr lang="en-US" sz="2400" dirty="0">
                <a:solidFill>
                  <a:srgbClr val="D8B6A4"/>
                </a:solidFill>
                <a:latin typeface="Gelasio" pitchFamily="34" charset="0"/>
                <a:ea typeface="Gelasio" pitchFamily="34" charset="-122"/>
                <a:cs typeface="Gelasio" pitchFamily="34" charset="-120"/>
              </a:rPr>
              <a:t>The New Horizon: EU's NIS2, DORA, and CRA</a:t>
            </a:r>
            <a:endParaRPr lang="en-US" sz="2400" dirty="0"/>
          </a:p>
        </p:txBody>
      </p:sp>
      <p:sp>
        <p:nvSpPr>
          <p:cNvPr id="3" name="Text 1"/>
          <p:cNvSpPr/>
          <p:nvPr/>
        </p:nvSpPr>
        <p:spPr>
          <a:xfrm>
            <a:off x="496119" y="1188021"/>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Europe is once again leading global cybersecurity regulation. A new wave of legislation enacted between 2022–2024 is raising the bar for critical infrastructure, financial services, and product security design.</a:t>
            </a:r>
            <a:endParaRPr lang="en-US" sz="950" dirty="0"/>
          </a:p>
        </p:txBody>
      </p:sp>
      <p:sp>
        <p:nvSpPr>
          <p:cNvPr id="4" name="Shape 2"/>
          <p:cNvSpPr/>
          <p:nvPr/>
        </p:nvSpPr>
        <p:spPr>
          <a:xfrm>
            <a:off x="496119" y="1724471"/>
            <a:ext cx="2634555" cy="1905446"/>
          </a:xfrm>
          <a:prstGeom prst="roundRect">
            <a:avLst>
              <a:gd name="adj" fmla="val 977"/>
            </a:avLst>
          </a:prstGeom>
          <a:solidFill>
            <a:srgbClr val="373433"/>
          </a:solidFill>
          <a:ln/>
        </p:spPr>
      </p:sp>
      <p:sp>
        <p:nvSpPr>
          <p:cNvPr id="5" name="Text 3"/>
          <p:cNvSpPr/>
          <p:nvPr/>
        </p:nvSpPr>
        <p:spPr>
          <a:xfrm>
            <a:off x="620092" y="184844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C9C2C0"/>
                </a:solidFill>
                <a:latin typeface="Gelasio" pitchFamily="34" charset="0"/>
                <a:ea typeface="Gelasio" pitchFamily="34" charset="-122"/>
                <a:cs typeface="Gelasio" pitchFamily="34" charset="-120"/>
              </a:rPr>
              <a:t>NIS2 Directive</a:t>
            </a:r>
            <a:endParaRPr lang="en-US" sz="1200" dirty="0"/>
          </a:p>
        </p:txBody>
      </p:sp>
      <p:sp>
        <p:nvSpPr>
          <p:cNvPr id="6" name="Text 4"/>
          <p:cNvSpPr/>
          <p:nvPr/>
        </p:nvSpPr>
        <p:spPr>
          <a:xfrm>
            <a:off x="620092" y="2116708"/>
            <a:ext cx="2386608" cy="1389236"/>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Expands cybersecurity obligations to thousands more entities across energy, transport, healthcare, and digital infrastructure. Introduces </a:t>
            </a:r>
            <a:r>
              <a:rPr lang="en-US" sz="950" b="1" dirty="0">
                <a:solidFill>
                  <a:srgbClr val="C9C2C0"/>
                </a:solidFill>
                <a:latin typeface="Gelasio" pitchFamily="34" charset="0"/>
                <a:ea typeface="Gelasio" pitchFamily="34" charset="-122"/>
                <a:cs typeface="Gelasio" pitchFamily="34" charset="-120"/>
              </a:rPr>
              <a:t>strict incident reporting deadlines</a:t>
            </a:r>
            <a:r>
              <a:rPr lang="en-US" sz="950" dirty="0">
                <a:solidFill>
                  <a:srgbClr val="C9C2C0"/>
                </a:solidFill>
                <a:latin typeface="Gelasio" pitchFamily="34" charset="0"/>
                <a:ea typeface="Gelasio" pitchFamily="34" charset="-122"/>
                <a:cs typeface="Gelasio" pitchFamily="34" charset="-120"/>
              </a:rPr>
              <a:t> and personal liability for senior management non-compliance.</a:t>
            </a:r>
            <a:endParaRPr lang="en-US" sz="950" dirty="0"/>
          </a:p>
        </p:txBody>
      </p:sp>
      <p:sp>
        <p:nvSpPr>
          <p:cNvPr id="7" name="Shape 5"/>
          <p:cNvSpPr/>
          <p:nvPr/>
        </p:nvSpPr>
        <p:spPr>
          <a:xfrm>
            <a:off x="3254648" y="1724471"/>
            <a:ext cx="2634630" cy="1905446"/>
          </a:xfrm>
          <a:prstGeom prst="roundRect">
            <a:avLst>
              <a:gd name="adj" fmla="val 977"/>
            </a:avLst>
          </a:prstGeom>
          <a:solidFill>
            <a:srgbClr val="373433"/>
          </a:solidFill>
          <a:ln/>
        </p:spPr>
      </p:sp>
      <p:sp>
        <p:nvSpPr>
          <p:cNvPr id="8" name="Text 6"/>
          <p:cNvSpPr/>
          <p:nvPr/>
        </p:nvSpPr>
        <p:spPr>
          <a:xfrm>
            <a:off x="3378622" y="184844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C9C2C0"/>
                </a:solidFill>
                <a:latin typeface="Gelasio" pitchFamily="34" charset="0"/>
                <a:ea typeface="Gelasio" pitchFamily="34" charset="-122"/>
                <a:cs typeface="Gelasio" pitchFamily="34" charset="-120"/>
              </a:rPr>
              <a:t>DORA Regulation</a:t>
            </a:r>
            <a:endParaRPr lang="en-US" sz="1200" dirty="0"/>
          </a:p>
        </p:txBody>
      </p:sp>
      <p:sp>
        <p:nvSpPr>
          <p:cNvPr id="9" name="Text 7"/>
          <p:cNvSpPr/>
          <p:nvPr/>
        </p:nvSpPr>
        <p:spPr>
          <a:xfrm>
            <a:off x="3378622" y="2116708"/>
            <a:ext cx="2386682" cy="11907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The Digital Operational Resilience Act (2025) requires financial institutions and their ICT third-party providers to withstand, respond to, and recover from ICT-related disruptions. </a:t>
            </a:r>
            <a:r>
              <a:rPr lang="en-US" sz="950" b="1" dirty="0">
                <a:solidFill>
                  <a:srgbClr val="C9C2C0"/>
                </a:solidFill>
                <a:latin typeface="Gelasio" pitchFamily="34" charset="0"/>
                <a:ea typeface="Gelasio" pitchFamily="34" charset="-122"/>
                <a:cs typeface="Gelasio" pitchFamily="34" charset="-120"/>
              </a:rPr>
              <a:t>Cloud providers serving finance</a:t>
            </a:r>
            <a:r>
              <a:rPr lang="en-US" sz="950" dirty="0">
                <a:solidFill>
                  <a:srgbClr val="C9C2C0"/>
                </a:solidFill>
                <a:latin typeface="Gelasio" pitchFamily="34" charset="0"/>
                <a:ea typeface="Gelasio" pitchFamily="34" charset="-122"/>
                <a:cs typeface="Gelasio" pitchFamily="34" charset="-120"/>
              </a:rPr>
              <a:t> face direct supervision.</a:t>
            </a:r>
            <a:endParaRPr lang="en-US" sz="950" dirty="0"/>
          </a:p>
        </p:txBody>
      </p:sp>
      <p:sp>
        <p:nvSpPr>
          <p:cNvPr id="10" name="Shape 8"/>
          <p:cNvSpPr/>
          <p:nvPr/>
        </p:nvSpPr>
        <p:spPr>
          <a:xfrm>
            <a:off x="6013252" y="1724471"/>
            <a:ext cx="2634555" cy="1905446"/>
          </a:xfrm>
          <a:prstGeom prst="roundRect">
            <a:avLst>
              <a:gd name="adj" fmla="val 977"/>
            </a:avLst>
          </a:prstGeom>
          <a:solidFill>
            <a:srgbClr val="373433"/>
          </a:solidFill>
          <a:ln/>
        </p:spPr>
      </p:sp>
      <p:sp>
        <p:nvSpPr>
          <p:cNvPr id="11" name="Text 9"/>
          <p:cNvSpPr/>
          <p:nvPr/>
        </p:nvSpPr>
        <p:spPr>
          <a:xfrm>
            <a:off x="6137225" y="1848445"/>
            <a:ext cx="1867346" cy="193849"/>
          </a:xfrm>
          <a:prstGeom prst="rect">
            <a:avLst/>
          </a:prstGeom>
          <a:noFill/>
          <a:ln/>
        </p:spPr>
        <p:txBody>
          <a:bodyPr wrap="none" lIns="0" tIns="0" rIns="0" bIns="0" rtlCol="0" anchor="t"/>
          <a:lstStyle/>
          <a:p>
            <a:pPr marL="0" indent="0" algn="l">
              <a:lnSpc>
                <a:spcPct val="104000"/>
              </a:lnSpc>
              <a:buNone/>
            </a:pPr>
            <a:r>
              <a:rPr lang="en-US" sz="1200" dirty="0">
                <a:solidFill>
                  <a:srgbClr val="C9C2C0"/>
                </a:solidFill>
                <a:latin typeface="Gelasio" pitchFamily="34" charset="0"/>
                <a:ea typeface="Gelasio" pitchFamily="34" charset="-122"/>
                <a:cs typeface="Gelasio" pitchFamily="34" charset="-120"/>
              </a:rPr>
              <a:t>Cyber Resilience Act (CRA)</a:t>
            </a:r>
            <a:endParaRPr lang="en-US" sz="1200" dirty="0"/>
          </a:p>
        </p:txBody>
      </p:sp>
      <p:sp>
        <p:nvSpPr>
          <p:cNvPr id="12" name="Text 10"/>
          <p:cNvSpPr/>
          <p:nvPr/>
        </p:nvSpPr>
        <p:spPr>
          <a:xfrm>
            <a:off x="6137225" y="2116708"/>
            <a:ext cx="2386608" cy="11907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Moves security requirements </a:t>
            </a:r>
            <a:r>
              <a:rPr lang="en-US" sz="950" i="1" dirty="0">
                <a:solidFill>
                  <a:srgbClr val="C9C2C0"/>
                </a:solidFill>
                <a:latin typeface="Gelasio" pitchFamily="34" charset="0"/>
                <a:ea typeface="Gelasio" pitchFamily="34" charset="-122"/>
                <a:cs typeface="Gelasio" pitchFamily="34" charset="-120"/>
              </a:rPr>
              <a:t>into</a:t>
            </a:r>
            <a:r>
              <a:rPr lang="en-US" sz="950" dirty="0">
                <a:solidFill>
                  <a:srgbClr val="C9C2C0"/>
                </a:solidFill>
                <a:latin typeface="Gelasio" pitchFamily="34" charset="0"/>
                <a:ea typeface="Gelasio" pitchFamily="34" charset="-122"/>
                <a:cs typeface="Gelasio" pitchFamily="34" charset="-120"/>
              </a:rPr>
              <a:t> product design. Manufacturers of hardware and software with digital elements must meet cybersecurity requirements </a:t>
            </a:r>
            <a:r>
              <a:rPr lang="en-US" sz="950" b="1" dirty="0">
                <a:solidFill>
                  <a:srgbClr val="C9C2C0"/>
                </a:solidFill>
                <a:latin typeface="Gelasio" pitchFamily="34" charset="0"/>
                <a:ea typeface="Gelasio" pitchFamily="34" charset="-122"/>
                <a:cs typeface="Gelasio" pitchFamily="34" charset="-120"/>
              </a:rPr>
              <a:t>before placing products on the EU market</a:t>
            </a:r>
            <a:r>
              <a:rPr lang="en-US" sz="950" dirty="0">
                <a:solidFill>
                  <a:srgbClr val="C9C2C0"/>
                </a:solidFill>
                <a:latin typeface="Gelasio" pitchFamily="34" charset="0"/>
                <a:ea typeface="Gelasio" pitchFamily="34" charset="-122"/>
                <a:cs typeface="Gelasio" pitchFamily="34" charset="-120"/>
              </a:rPr>
              <a:t> — security by design, not by patch.</a:t>
            </a:r>
            <a:endParaRPr lang="en-US" sz="950" dirty="0"/>
          </a:p>
        </p:txBody>
      </p:sp>
      <p:sp>
        <p:nvSpPr>
          <p:cNvPr id="13" name="Shape 11"/>
          <p:cNvSpPr/>
          <p:nvPr/>
        </p:nvSpPr>
        <p:spPr>
          <a:xfrm>
            <a:off x="496119" y="3769444"/>
            <a:ext cx="8151763" cy="682079"/>
          </a:xfrm>
          <a:prstGeom prst="roundRect">
            <a:avLst>
              <a:gd name="adj" fmla="val 2728"/>
            </a:avLst>
          </a:prstGeom>
          <a:solidFill>
            <a:srgbClr val="183A13"/>
          </a:solidFill>
          <a:ln/>
        </p:spPr>
      </p:sp>
      <p:pic>
        <p:nvPicPr>
          <p:cNvPr id="14" name="Image 0" descr="preencoded.png"/>
          <p:cNvPicPr>
            <a:picLocks noChangeAspect="1"/>
          </p:cNvPicPr>
          <p:nvPr/>
        </p:nvPicPr>
        <p:blipFill>
          <a:blip r:embed="rId3"/>
          <a:stretch>
            <a:fillRect/>
          </a:stretch>
        </p:blipFill>
        <p:spPr>
          <a:xfrm>
            <a:off x="620092" y="3949229"/>
            <a:ext cx="155004" cy="123974"/>
          </a:xfrm>
          <a:prstGeom prst="rect">
            <a:avLst/>
          </a:prstGeom>
        </p:spPr>
      </p:pic>
      <p:sp>
        <p:nvSpPr>
          <p:cNvPr id="15" name="Text 12"/>
          <p:cNvSpPr/>
          <p:nvPr/>
        </p:nvSpPr>
        <p:spPr>
          <a:xfrm>
            <a:off x="899071" y="3912022"/>
            <a:ext cx="762483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FFFFFF"/>
                </a:solidFill>
                <a:latin typeface="Gelasio" pitchFamily="34" charset="0"/>
                <a:ea typeface="Gelasio" pitchFamily="34" charset="-122"/>
                <a:cs typeface="Gelasio" pitchFamily="34" charset="-120"/>
              </a:rPr>
              <a:t>By 2025, compliance with these frameworks will be a </a:t>
            </a:r>
            <a:r>
              <a:rPr lang="en-US" sz="950" b="1" dirty="0">
                <a:solidFill>
                  <a:srgbClr val="FFFFFF"/>
                </a:solidFill>
                <a:latin typeface="Gelasio" pitchFamily="34" charset="0"/>
                <a:ea typeface="Gelasio" pitchFamily="34" charset="-122"/>
                <a:cs typeface="Gelasio" pitchFamily="34" charset="-120"/>
              </a:rPr>
              <a:t>competitive advantage</a:t>
            </a:r>
            <a:r>
              <a:rPr lang="en-US" sz="950" dirty="0">
                <a:solidFill>
                  <a:srgbClr val="FFFFFF"/>
                </a:solidFill>
                <a:latin typeface="Gelasio" pitchFamily="34" charset="0"/>
                <a:ea typeface="Gelasio" pitchFamily="34" charset="-122"/>
                <a:cs typeface="Gelasio" pitchFamily="34" charset="-120"/>
              </a:rPr>
              <a:t> — organizations that lead on compliance will win enterprise contracts and consumer trust.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64778"/>
            <a:ext cx="6291411" cy="381521"/>
          </a:xfrm>
          <a:prstGeom prst="rect">
            <a:avLst/>
          </a:prstGeom>
          <a:noFill/>
          <a:ln/>
        </p:spPr>
        <p:txBody>
          <a:bodyPr wrap="none" lIns="0" tIns="0" rIns="0" bIns="0" rtlCol="0" anchor="t"/>
          <a:lstStyle/>
          <a:p>
            <a:pPr marL="0" indent="0" algn="l">
              <a:lnSpc>
                <a:spcPct val="104000"/>
              </a:lnSpc>
              <a:buNone/>
            </a:pPr>
            <a:r>
              <a:rPr lang="en-US" sz="2400" dirty="0">
                <a:solidFill>
                  <a:srgbClr val="D8B6A4"/>
                </a:solidFill>
                <a:latin typeface="Gelasio" pitchFamily="34" charset="0"/>
                <a:ea typeface="Gelasio" pitchFamily="34" charset="-122"/>
                <a:cs typeface="Gelasio" pitchFamily="34" charset="-120"/>
              </a:rPr>
              <a:t>Civil vs. Criminal: The Two-Pronged Sword</a:t>
            </a:r>
            <a:endParaRPr lang="en-US" sz="2400" dirty="0"/>
          </a:p>
        </p:txBody>
      </p:sp>
      <p:sp>
        <p:nvSpPr>
          <p:cNvPr id="3" name="Text 1"/>
          <p:cNvSpPr/>
          <p:nvPr/>
        </p:nvSpPr>
        <p:spPr>
          <a:xfrm>
            <a:off x="496119" y="986656"/>
            <a:ext cx="8151763" cy="387697"/>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C9C2C0"/>
                </a:solidFill>
                <a:latin typeface="Gelasio" pitchFamily="34" charset="0"/>
                <a:ea typeface="Gelasio" pitchFamily="34" charset="-122"/>
                <a:cs typeface="Gelasio" pitchFamily="34" charset="-120"/>
              </a:rPr>
              <a:t>Cybersecurity incidents can trigger two distinct legal pathways simultaneously. Understanding the difference is essential for organizations responding to a breach or defending against allegations.</a:t>
            </a:r>
            <a:endParaRPr lang="en-US" sz="950" dirty="0"/>
          </a:p>
        </p:txBody>
      </p:sp>
      <p:sp>
        <p:nvSpPr>
          <p:cNvPr id="4" name="Shape 2"/>
          <p:cNvSpPr/>
          <p:nvPr/>
        </p:nvSpPr>
        <p:spPr>
          <a:xfrm>
            <a:off x="408236" y="1509564"/>
            <a:ext cx="4102745" cy="3269159"/>
          </a:xfrm>
          <a:prstGeom prst="roundRect">
            <a:avLst>
              <a:gd name="adj" fmla="val 560"/>
            </a:avLst>
          </a:prstGeom>
          <a:solidFill>
            <a:srgbClr val="C49F8C"/>
          </a:solidFill>
          <a:ln/>
        </p:spPr>
      </p:sp>
      <p:sp>
        <p:nvSpPr>
          <p:cNvPr id="5" name="Text 3"/>
          <p:cNvSpPr/>
          <p:nvPr/>
        </p:nvSpPr>
        <p:spPr>
          <a:xfrm>
            <a:off x="530275" y="1629742"/>
            <a:ext cx="1983507" cy="200248"/>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Gelasio" pitchFamily="34" charset="0"/>
                <a:ea typeface="Gelasio" pitchFamily="34" charset="-122"/>
                <a:cs typeface="Gelasio" pitchFamily="34" charset="-120"/>
              </a:rPr>
              <a:t>⚖️ Civil Law</a:t>
            </a:r>
            <a:endParaRPr lang="en-US" sz="1200" dirty="0"/>
          </a:p>
        </p:txBody>
      </p:sp>
      <p:sp>
        <p:nvSpPr>
          <p:cNvPr id="6" name="Text 4"/>
          <p:cNvSpPr/>
          <p:nvPr/>
        </p:nvSpPr>
        <p:spPr>
          <a:xfrm>
            <a:off x="530275" y="1950169"/>
            <a:ext cx="3858667" cy="387697"/>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000000"/>
                </a:solidFill>
                <a:latin typeface="Gelasio" pitchFamily="34" charset="0"/>
                <a:ea typeface="Gelasio" pitchFamily="34" charset="-122"/>
                <a:cs typeface="Gelasio" pitchFamily="34" charset="-120"/>
              </a:rPr>
              <a:t>Civil actions are brought by private parties — individuals, companies, or regulators — seeking remedies for harm suffered.</a:t>
            </a:r>
            <a:endParaRPr lang="en-US" sz="950" dirty="0"/>
          </a:p>
        </p:txBody>
      </p:sp>
      <p:sp>
        <p:nvSpPr>
          <p:cNvPr id="7" name="Text 5"/>
          <p:cNvSpPr/>
          <p:nvPr/>
        </p:nvSpPr>
        <p:spPr>
          <a:xfrm>
            <a:off x="530275" y="2445990"/>
            <a:ext cx="3858667" cy="901526"/>
          </a:xfrm>
          <a:prstGeom prst="rect">
            <a:avLst/>
          </a:prstGeom>
          <a:noFill/>
          <a:ln/>
        </p:spPr>
        <p:txBody>
          <a:bodyPr wrap="square" lIns="0" tIns="0" rIns="0" bIns="0" rtlCol="0" anchor="t">
            <a:normAutofit/>
          </a:bodyPr>
          <a:lstStyle/>
          <a:p>
            <a:pPr marL="342900" indent="-342900" algn="l">
              <a:lnSpc>
                <a:spcPct val="132000"/>
              </a:lnSpc>
              <a:buSzPct val="100000"/>
              <a:buChar char="•"/>
            </a:pPr>
            <a:r>
              <a:rPr lang="en-US" sz="950" b="1" dirty="0">
                <a:solidFill>
                  <a:srgbClr val="000000"/>
                </a:solidFill>
                <a:latin typeface="Gelasio" pitchFamily="34" charset="0"/>
                <a:ea typeface="Gelasio" pitchFamily="34" charset="-122"/>
                <a:cs typeface="Gelasio" pitchFamily="34" charset="-120"/>
              </a:rPr>
              <a:t>Damages:</a:t>
            </a:r>
            <a:r>
              <a:rPr lang="en-US" sz="950" dirty="0">
                <a:solidFill>
                  <a:srgbClr val="000000"/>
                </a:solidFill>
                <a:latin typeface="Gelasio" pitchFamily="34" charset="0"/>
                <a:ea typeface="Gelasio" pitchFamily="34" charset="-122"/>
                <a:cs typeface="Gelasio" pitchFamily="34" charset="-120"/>
              </a:rPr>
              <a:t> Monetary compensation for losses</a:t>
            </a:r>
            <a:endParaRPr lang="en-US" sz="950" dirty="0"/>
          </a:p>
          <a:p>
            <a:pPr marL="342900" indent="-342900" algn="l">
              <a:lnSpc>
                <a:spcPct val="132000"/>
              </a:lnSpc>
              <a:buSzPct val="100000"/>
              <a:buChar char="•"/>
            </a:pPr>
            <a:r>
              <a:rPr lang="en-US" sz="950" b="1" dirty="0">
                <a:solidFill>
                  <a:srgbClr val="000000"/>
                </a:solidFill>
                <a:latin typeface="Gelasio" pitchFamily="34" charset="0"/>
                <a:ea typeface="Gelasio" pitchFamily="34" charset="-122"/>
                <a:cs typeface="Gelasio" pitchFamily="34" charset="-120"/>
              </a:rPr>
              <a:t>Injunctions:</a:t>
            </a:r>
            <a:r>
              <a:rPr lang="en-US" sz="950" dirty="0">
                <a:solidFill>
                  <a:srgbClr val="000000"/>
                </a:solidFill>
                <a:latin typeface="Gelasio" pitchFamily="34" charset="0"/>
                <a:ea typeface="Gelasio" pitchFamily="34" charset="-122"/>
                <a:cs typeface="Gelasio" pitchFamily="34" charset="-120"/>
              </a:rPr>
              <a:t> Court orders to stop harmful conduct</a:t>
            </a:r>
            <a:endParaRPr lang="en-US" sz="950" dirty="0"/>
          </a:p>
          <a:p>
            <a:pPr marL="342900" indent="-342900" algn="l">
              <a:lnSpc>
                <a:spcPct val="132000"/>
              </a:lnSpc>
              <a:buSzPct val="100000"/>
              <a:buChar char="•"/>
            </a:pPr>
            <a:r>
              <a:rPr lang="en-US" sz="950" b="1" dirty="0">
                <a:solidFill>
                  <a:srgbClr val="000000"/>
                </a:solidFill>
                <a:latin typeface="Gelasio" pitchFamily="34" charset="0"/>
                <a:ea typeface="Gelasio" pitchFamily="34" charset="-122"/>
                <a:cs typeface="Gelasio" pitchFamily="34" charset="-120"/>
              </a:rPr>
              <a:t>Settlements:</a:t>
            </a:r>
            <a:r>
              <a:rPr lang="en-US" sz="950" dirty="0">
                <a:solidFill>
                  <a:srgbClr val="000000"/>
                </a:solidFill>
                <a:latin typeface="Gelasio" pitchFamily="34" charset="0"/>
                <a:ea typeface="Gelasio" pitchFamily="34" charset="-122"/>
                <a:cs typeface="Gelasio" pitchFamily="34" charset="-120"/>
              </a:rPr>
              <a:t> Negotiated resolutions without trial</a:t>
            </a:r>
            <a:endParaRPr lang="en-US" sz="950" dirty="0"/>
          </a:p>
          <a:p>
            <a:pPr marL="342900" indent="-342900" algn="l">
              <a:lnSpc>
                <a:spcPct val="132000"/>
              </a:lnSpc>
              <a:buSzPct val="100000"/>
              <a:buChar char="•"/>
            </a:pPr>
            <a:r>
              <a:rPr lang="en-US" sz="950" b="1" dirty="0">
                <a:solidFill>
                  <a:srgbClr val="000000"/>
                </a:solidFill>
                <a:latin typeface="Gelasio" pitchFamily="34" charset="0"/>
                <a:ea typeface="Gelasio" pitchFamily="34" charset="-122"/>
                <a:cs typeface="Gelasio" pitchFamily="34" charset="-120"/>
              </a:rPr>
              <a:t>Class Actions:</a:t>
            </a:r>
            <a:r>
              <a:rPr lang="en-US" sz="950" dirty="0">
                <a:solidFill>
                  <a:srgbClr val="000000"/>
                </a:solidFill>
                <a:latin typeface="Gelasio" pitchFamily="34" charset="0"/>
                <a:ea typeface="Gelasio" pitchFamily="34" charset="-122"/>
                <a:cs typeface="Gelasio" pitchFamily="34" charset="-120"/>
              </a:rPr>
              <a:t> Aggregated claims from many affected parties</a:t>
            </a:r>
            <a:endParaRPr lang="en-US" sz="950" dirty="0"/>
          </a:p>
        </p:txBody>
      </p:sp>
      <p:sp>
        <p:nvSpPr>
          <p:cNvPr id="8" name="Text 6"/>
          <p:cNvSpPr/>
          <p:nvPr/>
        </p:nvSpPr>
        <p:spPr>
          <a:xfrm>
            <a:off x="530275" y="3455640"/>
            <a:ext cx="4315867" cy="193849"/>
          </a:xfrm>
          <a:prstGeom prst="rect">
            <a:avLst/>
          </a:prstGeom>
          <a:noFill/>
          <a:ln/>
        </p:spPr>
        <p:txBody>
          <a:bodyPr wrap="none" lIns="0" tIns="0" rIns="0" bIns="0" rtlCol="0" anchor="t"/>
          <a:lstStyle/>
          <a:p>
            <a:pPr marL="0" indent="0" algn="l">
              <a:lnSpc>
                <a:spcPct val="132000"/>
              </a:lnSpc>
              <a:buNone/>
            </a:pPr>
            <a:r>
              <a:rPr lang="en-US" sz="950" dirty="0">
                <a:solidFill>
                  <a:srgbClr val="000000"/>
                </a:solidFill>
                <a:latin typeface="Gelasio" pitchFamily="34" charset="0"/>
                <a:ea typeface="Gelasio" pitchFamily="34" charset="-122"/>
                <a:cs typeface="Gelasio" pitchFamily="34" charset="-120"/>
              </a:rPr>
              <a:t>Standard of proof: </a:t>
            </a:r>
            <a:r>
              <a:rPr lang="en-US" sz="950" i="1" dirty="0">
                <a:solidFill>
                  <a:srgbClr val="000000"/>
                </a:solidFill>
                <a:latin typeface="Gelasio" pitchFamily="34" charset="0"/>
                <a:ea typeface="Gelasio" pitchFamily="34" charset="-122"/>
                <a:cs typeface="Gelasio" pitchFamily="34" charset="-120"/>
              </a:rPr>
              <a:t>Preponderance of evidence</a:t>
            </a:r>
            <a:r>
              <a:rPr lang="en-US" sz="950" dirty="0">
                <a:solidFill>
                  <a:srgbClr val="000000"/>
                </a:solidFill>
                <a:latin typeface="Gelasio" pitchFamily="34" charset="0"/>
                <a:ea typeface="Gelasio" pitchFamily="34" charset="-122"/>
                <a:cs typeface="Gelasio" pitchFamily="34" charset="-120"/>
              </a:rPr>
              <a:t> (more likely than not)</a:t>
            </a:r>
            <a:endParaRPr lang="en-US" sz="950" dirty="0"/>
          </a:p>
        </p:txBody>
      </p:sp>
      <p:sp>
        <p:nvSpPr>
          <p:cNvPr id="9" name="Text 7"/>
          <p:cNvSpPr/>
          <p:nvPr/>
        </p:nvSpPr>
        <p:spPr>
          <a:xfrm>
            <a:off x="4725665" y="1629742"/>
            <a:ext cx="1983507" cy="200248"/>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Gelasio" pitchFamily="34" charset="0"/>
                <a:ea typeface="Gelasio" pitchFamily="34" charset="-122"/>
                <a:cs typeface="Gelasio" pitchFamily="34" charset="-120"/>
              </a:rPr>
              <a:t>🔒</a:t>
            </a:r>
            <a:r>
              <a:rPr lang="en-US" sz="1200" dirty="0">
                <a:solidFill>
                  <a:srgbClr val="D8B6A4"/>
                </a:solidFill>
                <a:latin typeface="Gelasio" pitchFamily="34" charset="0"/>
                <a:ea typeface="Gelasio" pitchFamily="34" charset="-122"/>
                <a:cs typeface="Gelasio" pitchFamily="34" charset="-120"/>
              </a:rPr>
              <a:t> Criminal Law</a:t>
            </a:r>
            <a:endParaRPr lang="en-US" sz="1200" dirty="0"/>
          </a:p>
        </p:txBody>
      </p:sp>
      <p:sp>
        <p:nvSpPr>
          <p:cNvPr id="10" name="Text 8"/>
          <p:cNvSpPr/>
          <p:nvPr/>
        </p:nvSpPr>
        <p:spPr>
          <a:xfrm>
            <a:off x="4725665" y="1950169"/>
            <a:ext cx="3926979" cy="387697"/>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C9C2C0"/>
                </a:solidFill>
                <a:latin typeface="Gelasio" pitchFamily="34" charset="0"/>
                <a:ea typeface="Gelasio" pitchFamily="34" charset="-122"/>
                <a:cs typeface="Gelasio" pitchFamily="34" charset="-120"/>
              </a:rPr>
              <a:t>Criminal prosecution is brought by the state against individuals or entities accused of violating cybersecurity statutes.</a:t>
            </a:r>
            <a:endParaRPr lang="en-US" sz="950" dirty="0"/>
          </a:p>
        </p:txBody>
      </p:sp>
      <p:sp>
        <p:nvSpPr>
          <p:cNvPr id="11" name="Text 9"/>
          <p:cNvSpPr/>
          <p:nvPr/>
        </p:nvSpPr>
        <p:spPr>
          <a:xfrm>
            <a:off x="4725665" y="2445990"/>
            <a:ext cx="3926979" cy="901526"/>
          </a:xfrm>
          <a:prstGeom prst="rect">
            <a:avLst/>
          </a:prstGeom>
          <a:noFill/>
          <a:ln/>
        </p:spPr>
        <p:txBody>
          <a:bodyPr wrap="square" lIns="0" tIns="0" rIns="0" bIns="0" rtlCol="0" anchor="t">
            <a:normAutofit/>
          </a:bodyPr>
          <a:lstStyle/>
          <a:p>
            <a:pPr marL="342900" indent="-342900" algn="l">
              <a:lnSpc>
                <a:spcPct val="132000"/>
              </a:lnSpc>
              <a:buSzPct val="100000"/>
              <a:buChar char="•"/>
            </a:pPr>
            <a:r>
              <a:rPr lang="en-US" sz="950" b="1" dirty="0">
                <a:solidFill>
                  <a:srgbClr val="C9C2C0"/>
                </a:solidFill>
                <a:latin typeface="Gelasio" pitchFamily="34" charset="0"/>
                <a:ea typeface="Gelasio" pitchFamily="34" charset="-122"/>
                <a:cs typeface="Gelasio" pitchFamily="34" charset="-120"/>
              </a:rPr>
              <a:t>Prosecution:</a:t>
            </a:r>
            <a:r>
              <a:rPr lang="en-US" sz="950" dirty="0">
                <a:solidFill>
                  <a:srgbClr val="C9C2C0"/>
                </a:solidFill>
                <a:latin typeface="Gelasio" pitchFamily="34" charset="0"/>
                <a:ea typeface="Gelasio" pitchFamily="34" charset="-122"/>
                <a:cs typeface="Gelasio" pitchFamily="34" charset="-120"/>
              </a:rPr>
              <a:t> Led by government agencies (DOJ, FBI, etc.)</a:t>
            </a:r>
            <a:endParaRPr lang="en-US" sz="950" dirty="0"/>
          </a:p>
          <a:p>
            <a:pPr marL="342900" indent="-342900" algn="l">
              <a:lnSpc>
                <a:spcPct val="132000"/>
              </a:lnSpc>
              <a:buSzPct val="100000"/>
              <a:buChar char="•"/>
            </a:pPr>
            <a:r>
              <a:rPr lang="en-US" sz="950" b="1" dirty="0">
                <a:solidFill>
                  <a:srgbClr val="C9C2C0"/>
                </a:solidFill>
                <a:latin typeface="Gelasio" pitchFamily="34" charset="0"/>
                <a:ea typeface="Gelasio" pitchFamily="34" charset="-122"/>
                <a:cs typeface="Gelasio" pitchFamily="34" charset="-120"/>
              </a:rPr>
              <a:t>Penalties:</a:t>
            </a:r>
            <a:r>
              <a:rPr lang="en-US" sz="950" dirty="0">
                <a:solidFill>
                  <a:srgbClr val="C9C2C0"/>
                </a:solidFill>
                <a:latin typeface="Gelasio" pitchFamily="34" charset="0"/>
                <a:ea typeface="Gelasio" pitchFamily="34" charset="-122"/>
                <a:cs typeface="Gelasio" pitchFamily="34" charset="-120"/>
              </a:rPr>
              <a:t> Fines, probation, and imprisonment</a:t>
            </a:r>
            <a:endParaRPr lang="en-US" sz="950" dirty="0"/>
          </a:p>
          <a:p>
            <a:pPr marL="342900" indent="-342900" algn="l">
              <a:lnSpc>
                <a:spcPct val="132000"/>
              </a:lnSpc>
              <a:buSzPct val="100000"/>
              <a:buChar char="•"/>
            </a:pPr>
            <a:r>
              <a:rPr lang="en-US" sz="950" b="1" dirty="0">
                <a:solidFill>
                  <a:srgbClr val="C9C2C0"/>
                </a:solidFill>
                <a:latin typeface="Gelasio" pitchFamily="34" charset="0"/>
                <a:ea typeface="Gelasio" pitchFamily="34" charset="-122"/>
                <a:cs typeface="Gelasio" pitchFamily="34" charset="-120"/>
              </a:rPr>
              <a:t>Forfeiture:</a:t>
            </a:r>
            <a:r>
              <a:rPr lang="en-US" sz="950" dirty="0">
                <a:solidFill>
                  <a:srgbClr val="C9C2C0"/>
                </a:solidFill>
                <a:latin typeface="Gelasio" pitchFamily="34" charset="0"/>
                <a:ea typeface="Gelasio" pitchFamily="34" charset="-122"/>
                <a:cs typeface="Gelasio" pitchFamily="34" charset="-120"/>
              </a:rPr>
              <a:t> Seizure of equipment and illicit gains</a:t>
            </a:r>
            <a:endParaRPr lang="en-US" sz="950" dirty="0"/>
          </a:p>
          <a:p>
            <a:pPr marL="342900" indent="-342900" algn="l">
              <a:lnSpc>
                <a:spcPct val="132000"/>
              </a:lnSpc>
              <a:buSzPct val="100000"/>
              <a:buChar char="•"/>
            </a:pPr>
            <a:r>
              <a:rPr lang="en-US" sz="950" b="1" dirty="0">
                <a:solidFill>
                  <a:srgbClr val="C9C2C0"/>
                </a:solidFill>
                <a:latin typeface="Gelasio" pitchFamily="34" charset="0"/>
                <a:ea typeface="Gelasio" pitchFamily="34" charset="-122"/>
                <a:cs typeface="Gelasio" pitchFamily="34" charset="-120"/>
              </a:rPr>
              <a:t>Extradition:</a:t>
            </a:r>
            <a:r>
              <a:rPr lang="en-US" sz="950" dirty="0">
                <a:solidFill>
                  <a:srgbClr val="C9C2C0"/>
                </a:solidFill>
                <a:latin typeface="Gelasio" pitchFamily="34" charset="0"/>
                <a:ea typeface="Gelasio" pitchFamily="34" charset="-122"/>
                <a:cs typeface="Gelasio" pitchFamily="34" charset="-120"/>
              </a:rPr>
              <a:t> International pursuit of suspects</a:t>
            </a:r>
            <a:endParaRPr lang="en-US" sz="950" dirty="0"/>
          </a:p>
        </p:txBody>
      </p:sp>
      <p:sp>
        <p:nvSpPr>
          <p:cNvPr id="12" name="Text 10"/>
          <p:cNvSpPr/>
          <p:nvPr/>
        </p:nvSpPr>
        <p:spPr>
          <a:xfrm>
            <a:off x="4725665" y="3455640"/>
            <a:ext cx="4384179" cy="193849"/>
          </a:xfrm>
          <a:prstGeom prst="rect">
            <a:avLst/>
          </a:prstGeom>
          <a:noFill/>
          <a:ln/>
        </p:spPr>
        <p:txBody>
          <a:bodyPr wrap="none" lIns="0" tIns="0" rIns="0" bIns="0" rtlCol="0" anchor="t"/>
          <a:lstStyle/>
          <a:p>
            <a:pPr marL="0" indent="0" algn="l">
              <a:lnSpc>
                <a:spcPct val="132000"/>
              </a:lnSpc>
              <a:buNone/>
            </a:pPr>
            <a:r>
              <a:rPr lang="en-US" sz="950" dirty="0">
                <a:solidFill>
                  <a:srgbClr val="C9C2C0"/>
                </a:solidFill>
                <a:latin typeface="Gelasio" pitchFamily="34" charset="0"/>
                <a:ea typeface="Gelasio" pitchFamily="34" charset="-122"/>
                <a:cs typeface="Gelasio" pitchFamily="34" charset="-120"/>
              </a:rPr>
              <a:t>Standard of proof: </a:t>
            </a:r>
            <a:r>
              <a:rPr lang="en-US" sz="950" i="1" dirty="0">
                <a:solidFill>
                  <a:srgbClr val="C9C2C0"/>
                </a:solidFill>
                <a:latin typeface="Gelasio" pitchFamily="34" charset="0"/>
                <a:ea typeface="Gelasio" pitchFamily="34" charset="-122"/>
                <a:cs typeface="Gelasio" pitchFamily="34" charset="-120"/>
              </a:rPr>
              <a:t>Beyond a reasonable doubt</a:t>
            </a:r>
            <a:endParaRPr lang="en-US" sz="950" dirty="0"/>
          </a:p>
        </p:txBody>
      </p:sp>
      <p:sp>
        <p:nvSpPr>
          <p:cNvPr id="13" name="Shape 11"/>
          <p:cNvSpPr/>
          <p:nvPr/>
        </p:nvSpPr>
        <p:spPr>
          <a:xfrm>
            <a:off x="4725665" y="3784699"/>
            <a:ext cx="3926979" cy="858813"/>
          </a:xfrm>
          <a:prstGeom prst="roundRect">
            <a:avLst>
              <a:gd name="adj" fmla="val 2133"/>
            </a:avLst>
          </a:prstGeom>
          <a:solidFill>
            <a:srgbClr val="022349"/>
          </a:solidFill>
          <a:ln/>
        </p:spPr>
      </p:sp>
      <p:pic>
        <p:nvPicPr>
          <p:cNvPr id="14" name="Image 0" descr="preencoded.png"/>
          <p:cNvPicPr>
            <a:picLocks noChangeAspect="1"/>
          </p:cNvPicPr>
          <p:nvPr/>
        </p:nvPicPr>
        <p:blipFill>
          <a:blip r:embed="rId3"/>
          <a:stretch>
            <a:fillRect/>
          </a:stretch>
        </p:blipFill>
        <p:spPr>
          <a:xfrm>
            <a:off x="4847704" y="3959051"/>
            <a:ext cx="152623" cy="122039"/>
          </a:xfrm>
          <a:prstGeom prst="rect">
            <a:avLst/>
          </a:prstGeom>
        </p:spPr>
      </p:pic>
      <p:sp>
        <p:nvSpPr>
          <p:cNvPr id="15" name="Text 12"/>
          <p:cNvSpPr/>
          <p:nvPr/>
        </p:nvSpPr>
        <p:spPr>
          <a:xfrm>
            <a:off x="5122366" y="3923333"/>
            <a:ext cx="3408238" cy="581546"/>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FFFFFF"/>
                </a:solidFill>
                <a:latin typeface="Gelasio" pitchFamily="34" charset="0"/>
                <a:ea typeface="Gelasio" pitchFamily="34" charset="-122"/>
                <a:cs typeface="Gelasio" pitchFamily="34" charset="-120"/>
              </a:rPr>
              <a:t>A single incident — like a data breach — can trigger both civil lawsuits from affected customers </a:t>
            </a:r>
            <a:r>
              <a:rPr lang="en-US" sz="950" i="1" dirty="0">
                <a:solidFill>
                  <a:srgbClr val="FFFFFF"/>
                </a:solidFill>
                <a:latin typeface="Gelasio" pitchFamily="34" charset="0"/>
                <a:ea typeface="Gelasio" pitchFamily="34" charset="-122"/>
                <a:cs typeface="Gelasio" pitchFamily="34" charset="-120"/>
              </a:rPr>
              <a:t>and</a:t>
            </a:r>
            <a:r>
              <a:rPr lang="en-US" sz="950" dirty="0">
                <a:solidFill>
                  <a:srgbClr val="FFFFFF"/>
                </a:solidFill>
                <a:latin typeface="Gelasio" pitchFamily="34" charset="0"/>
                <a:ea typeface="Gelasio" pitchFamily="34" charset="-122"/>
                <a:cs typeface="Gelasio" pitchFamily="34" charset="-120"/>
              </a:rPr>
              <a:t> criminal investigation by federal authorities.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778669"/>
            <a:ext cx="7359625" cy="387548"/>
          </a:xfrm>
          <a:prstGeom prst="rect">
            <a:avLst/>
          </a:prstGeom>
          <a:noFill/>
          <a:ln/>
        </p:spPr>
        <p:txBody>
          <a:bodyPr wrap="none" lIns="0" tIns="0" rIns="0" bIns="0" rtlCol="0" anchor="t"/>
          <a:lstStyle/>
          <a:p>
            <a:pPr marL="0" indent="0" algn="l">
              <a:lnSpc>
                <a:spcPct val="104000"/>
              </a:lnSpc>
              <a:buNone/>
            </a:pPr>
            <a:r>
              <a:rPr lang="en-US" sz="2400" dirty="0">
                <a:solidFill>
                  <a:srgbClr val="D8B6A4"/>
                </a:solidFill>
                <a:latin typeface="Gelasio" pitchFamily="34" charset="0"/>
                <a:ea typeface="Gelasio" pitchFamily="34" charset="-122"/>
                <a:cs typeface="Gelasio" pitchFamily="34" charset="-120"/>
              </a:rPr>
              <a:t>Conclusion: Compliance Is Your Competitive Edge</a:t>
            </a:r>
            <a:endParaRPr lang="en-US" sz="2400" dirty="0"/>
          </a:p>
        </p:txBody>
      </p:sp>
      <p:sp>
        <p:nvSpPr>
          <p:cNvPr id="3" name="Text 1"/>
          <p:cNvSpPr/>
          <p:nvPr/>
        </p:nvSpPr>
        <p:spPr>
          <a:xfrm>
            <a:off x="496119" y="1414239"/>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Cybersecurity law is not a regulatory hurdle to clear — it is the blueprint for building lasting business trust in the digital age. Organizations that treat compliance as a strategic priority consistently outperform those that treat it as a checkbox exercise.</a:t>
            </a:r>
            <a:endParaRPr lang="en-US" sz="9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2627" y="1954485"/>
            <a:ext cx="186035" cy="186035"/>
          </a:xfrm>
          <a:prstGeom prst="rect">
            <a:avLst/>
          </a:prstGeom>
        </p:spPr>
      </p:pic>
      <p:sp>
        <p:nvSpPr>
          <p:cNvPr id="5" name="Text 2"/>
          <p:cNvSpPr/>
          <p:nvPr/>
        </p:nvSpPr>
        <p:spPr>
          <a:xfrm>
            <a:off x="899145" y="1950690"/>
            <a:ext cx="2171105" cy="193849"/>
          </a:xfrm>
          <a:prstGeom prst="rect">
            <a:avLst/>
          </a:prstGeom>
          <a:noFill/>
          <a:ln/>
        </p:spPr>
        <p:txBody>
          <a:bodyPr wrap="none" lIns="0" tIns="0" rIns="0" bIns="0" rtlCol="0" anchor="t"/>
          <a:lstStyle/>
          <a:p>
            <a:pPr marL="0" indent="0" algn="l">
              <a:lnSpc>
                <a:spcPct val="104000"/>
              </a:lnSpc>
              <a:buNone/>
            </a:pPr>
            <a:r>
              <a:rPr lang="en-US" sz="1200" dirty="0">
                <a:solidFill>
                  <a:srgbClr val="C9C2C0"/>
                </a:solidFill>
                <a:latin typeface="Gelasio" pitchFamily="34" charset="0"/>
                <a:ea typeface="Gelasio" pitchFamily="34" charset="-122"/>
                <a:cs typeface="Gelasio" pitchFamily="34" charset="-120"/>
              </a:rPr>
              <a:t>Shift from Reactive to Proactive</a:t>
            </a:r>
            <a:endParaRPr lang="en-US" sz="1200" dirty="0"/>
          </a:p>
        </p:txBody>
      </p:sp>
      <p:sp>
        <p:nvSpPr>
          <p:cNvPr id="6" name="Text 3"/>
          <p:cNvSpPr/>
          <p:nvPr/>
        </p:nvSpPr>
        <p:spPr>
          <a:xfrm>
            <a:off x="899145" y="2218953"/>
            <a:ext cx="2210842"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Don't wait for a breach to understand your obligations. Build a legal-technical strategy that anticipates regulatory changes and embeds compliance into your operations from the start.</a:t>
            </a:r>
            <a:endParaRPr lang="en-US" sz="9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11500" y="1954485"/>
            <a:ext cx="186035" cy="186035"/>
          </a:xfrm>
          <a:prstGeom prst="rect">
            <a:avLst/>
          </a:prstGeom>
        </p:spPr>
      </p:pic>
      <p:sp>
        <p:nvSpPr>
          <p:cNvPr id="8" name="Text 4"/>
          <p:cNvSpPr/>
          <p:nvPr/>
        </p:nvSpPr>
        <p:spPr>
          <a:xfrm>
            <a:off x="3668018" y="1950690"/>
            <a:ext cx="1881857" cy="193849"/>
          </a:xfrm>
          <a:prstGeom prst="rect">
            <a:avLst/>
          </a:prstGeom>
          <a:noFill/>
          <a:ln/>
        </p:spPr>
        <p:txBody>
          <a:bodyPr wrap="none" lIns="0" tIns="0" rIns="0" bIns="0" rtlCol="0" anchor="t"/>
          <a:lstStyle/>
          <a:p>
            <a:pPr marL="0" indent="0" algn="l">
              <a:lnSpc>
                <a:spcPct val="104000"/>
              </a:lnSpc>
              <a:buNone/>
            </a:pPr>
            <a:r>
              <a:rPr lang="en-US" sz="1200" dirty="0">
                <a:solidFill>
                  <a:srgbClr val="C9C2C0"/>
                </a:solidFill>
                <a:latin typeface="Gelasio" pitchFamily="34" charset="0"/>
                <a:ea typeface="Gelasio" pitchFamily="34" charset="-122"/>
                <a:cs typeface="Gelasio" pitchFamily="34" charset="-120"/>
              </a:rPr>
              <a:t>Audit Your Data Landscape</a:t>
            </a:r>
            <a:endParaRPr lang="en-US" sz="1200" dirty="0"/>
          </a:p>
        </p:txBody>
      </p:sp>
      <p:sp>
        <p:nvSpPr>
          <p:cNvPr id="9" name="Text 5"/>
          <p:cNvSpPr/>
          <p:nvPr/>
        </p:nvSpPr>
        <p:spPr>
          <a:xfrm>
            <a:off x="3668018" y="2218953"/>
            <a:ext cx="2210916"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Know what data you hold, where it lives, who has access, and which regulations apply. Data mapping is the foundation of every effective compliance program.</a:t>
            </a:r>
            <a:endParaRPr lang="en-US" sz="9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80447" y="1954485"/>
            <a:ext cx="186035" cy="186035"/>
          </a:xfrm>
          <a:prstGeom prst="rect">
            <a:avLst/>
          </a:prstGeom>
        </p:spPr>
      </p:pic>
      <p:sp>
        <p:nvSpPr>
          <p:cNvPr id="11" name="Text 6"/>
          <p:cNvSpPr/>
          <p:nvPr/>
        </p:nvSpPr>
        <p:spPr>
          <a:xfrm>
            <a:off x="6436965" y="1950690"/>
            <a:ext cx="1618729" cy="193849"/>
          </a:xfrm>
          <a:prstGeom prst="rect">
            <a:avLst/>
          </a:prstGeom>
          <a:noFill/>
          <a:ln/>
        </p:spPr>
        <p:txBody>
          <a:bodyPr wrap="none" lIns="0" tIns="0" rIns="0" bIns="0" rtlCol="0" anchor="t"/>
          <a:lstStyle/>
          <a:p>
            <a:pPr marL="0" indent="0" algn="l">
              <a:lnSpc>
                <a:spcPct val="104000"/>
              </a:lnSpc>
              <a:buNone/>
            </a:pPr>
            <a:r>
              <a:rPr lang="en-US" sz="1200" dirty="0">
                <a:solidFill>
                  <a:srgbClr val="C9C2C0"/>
                </a:solidFill>
                <a:latin typeface="Gelasio" pitchFamily="34" charset="0"/>
                <a:ea typeface="Gelasio" pitchFamily="34" charset="-122"/>
                <a:cs typeface="Gelasio" pitchFamily="34" charset="-120"/>
              </a:rPr>
              <a:t>Know Your Regulations</a:t>
            </a:r>
            <a:endParaRPr lang="en-US" sz="1200" dirty="0"/>
          </a:p>
        </p:txBody>
      </p:sp>
      <p:sp>
        <p:nvSpPr>
          <p:cNvPr id="12" name="Text 7"/>
          <p:cNvSpPr/>
          <p:nvPr/>
        </p:nvSpPr>
        <p:spPr>
          <a:xfrm>
            <a:off x="6436965" y="2218953"/>
            <a:ext cx="2210916" cy="11907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Whether you're subject to CFAA, GDPR, HIPAA, SOX, or the new EU frameworks — ignorance is not a defense. Invest in legal counsel and compliance training as core business infrastructure.</a:t>
            </a:r>
            <a:endParaRPr lang="en-US" sz="950" dirty="0"/>
          </a:p>
        </p:txBody>
      </p:sp>
      <p:sp>
        <p:nvSpPr>
          <p:cNvPr id="13" name="Shape 8"/>
          <p:cNvSpPr/>
          <p:nvPr/>
        </p:nvSpPr>
        <p:spPr>
          <a:xfrm>
            <a:off x="496119" y="3549253"/>
            <a:ext cx="14288" cy="675977"/>
          </a:xfrm>
          <a:prstGeom prst="roundRect">
            <a:avLst>
              <a:gd name="adj" fmla="val 59998"/>
            </a:avLst>
          </a:prstGeom>
          <a:solidFill>
            <a:srgbClr val="C49F8C"/>
          </a:solidFill>
          <a:ln/>
        </p:spPr>
      </p:sp>
      <p:sp>
        <p:nvSpPr>
          <p:cNvPr id="14" name="Text 9"/>
          <p:cNvSpPr/>
          <p:nvPr/>
        </p:nvSpPr>
        <p:spPr>
          <a:xfrm>
            <a:off x="682154" y="3688779"/>
            <a:ext cx="7965728"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9C2C0"/>
                </a:solidFill>
                <a:latin typeface="Gelasio" pitchFamily="34" charset="0"/>
                <a:ea typeface="Gelasio" pitchFamily="34" charset="-122"/>
                <a:cs typeface="Gelasio" pitchFamily="34" charset="-120"/>
              </a:rPr>
              <a:t>"The question for companies is not whether they will be attacked — it's whether they'll be ready when it happens. Legal preparedness is the first line of defense."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2013 - 2022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1571</Words>
  <Application>Microsoft Office PowerPoint</Application>
  <PresentationFormat>On-screen Show (16:9)</PresentationFormat>
  <Paragraphs>112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Gelasio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Shubham Singh</cp:lastModifiedBy>
  <cp:revision>2</cp:revision>
  <dcterms:created xsi:type="dcterms:W3CDTF">2026-06-20T05:23:24Z</dcterms:created>
  <dcterms:modified xsi:type="dcterms:W3CDTF">2026-06-20T05:25:21Z</dcterms:modified>
</cp:coreProperties>
</file>